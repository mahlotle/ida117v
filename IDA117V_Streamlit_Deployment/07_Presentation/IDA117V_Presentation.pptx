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068d165c2624ddd" /><Relationship Type="http://schemas.openxmlformats.org/officeDocument/2006/relationships/extended-properties" Target="/docProps/app.xml" Id="R0c7e6f5d9c5c4881" /><Relationship Type="http://schemas.openxmlformats.org/officeDocument/2006/relationships/officeDocument" Target="/ppt/presentation.xml" Id="Rf951754101de4249" /></Relationships>
</file>

<file path=ppt/presentation.xml><?xml version="1.0" encoding="utf-8"?>
<p:presentation xmlns:p="http://schemas.openxmlformats.org/presentationml/2006/main">
  <p:sldMasterIdLst>
    <p:sldMasterId xmlns:r="http://schemas.openxmlformats.org/officeDocument/2006/relationships" id="2147483648" r:id="R08b9a0d979334c6b"/>
  </p:sldMasterIdLst>
  <p:notesMasterIdLst>
    <p:notesMasterId xmlns:r="http://schemas.openxmlformats.org/officeDocument/2006/relationships" r:id="Ree3f45b248494a0a"/>
  </p:notesMasterIdLst>
  <p:sldIdLst>
    <p:sldId xmlns:r="http://schemas.openxmlformats.org/officeDocument/2006/relationships" id="256" r:id="R9eee3784f4c64b95"/>
    <p:sldId xmlns:r="http://schemas.openxmlformats.org/officeDocument/2006/relationships" id="257" r:id="R31b44129ad30493b"/>
    <p:sldId xmlns:r="http://schemas.openxmlformats.org/officeDocument/2006/relationships" id="258" r:id="R355a5bfe888d43f6"/>
    <p:sldId xmlns:r="http://schemas.openxmlformats.org/officeDocument/2006/relationships" id="259" r:id="R38f4c53f15634fb5"/>
    <p:sldId xmlns:r="http://schemas.openxmlformats.org/officeDocument/2006/relationships" id="260" r:id="R4537c5f14fd04d23"/>
    <p:sldId xmlns:r="http://schemas.openxmlformats.org/officeDocument/2006/relationships" id="261" r:id="Rdfb95a5829344f7a"/>
    <p:sldId xmlns:r="http://schemas.openxmlformats.org/officeDocument/2006/relationships" id="262" r:id="R94e8db127e564ddd"/>
    <p:sldId xmlns:r="http://schemas.openxmlformats.org/officeDocument/2006/relationships" id="263" r:id="Rf4e7be3d7d0e4843"/>
    <p:sldId xmlns:r="http://schemas.openxmlformats.org/officeDocument/2006/relationships" id="264" r:id="Rbc70854113984f04"/>
    <p:sldId xmlns:r="http://schemas.openxmlformats.org/officeDocument/2006/relationships" id="265" r:id="R215018e0c2124e81"/>
    <p:sldId xmlns:r="http://schemas.openxmlformats.org/officeDocument/2006/relationships" id="266" r:id="R37b813094e14499a"/>
    <p:sldId xmlns:r="http://schemas.openxmlformats.org/officeDocument/2006/relationships" id="267" r:id="Rc139e966b99144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7418dda5d942d3" /><Relationship Type="http://schemas.openxmlformats.org/officeDocument/2006/relationships/slideMaster" Target="/ppt/slideMasters/slideMaster1.xml" Id="R08b9a0d979334c6b" /><Relationship Type="http://schemas.openxmlformats.org/officeDocument/2006/relationships/notesMaster" Target="/ppt/notesMasters/notesMaster1.xml" Id="Ree3f45b248494a0a" /><Relationship Type="http://schemas.openxmlformats.org/officeDocument/2006/relationships/presProps" Target="/ppt/presProps.xml" Id="R6ce17e5e57bb4e28" /><Relationship Type="http://schemas.openxmlformats.org/officeDocument/2006/relationships/tableStyles" Target="/ppt/tableStyles.xml" Id="R6310dca69f0e4d63" /><Relationship Type="http://schemas.openxmlformats.org/officeDocument/2006/relationships/slide" Target="/ppt/slides/slide1.xml" Id="R9eee3784f4c64b95" /><Relationship Type="http://schemas.openxmlformats.org/officeDocument/2006/relationships/slide" Target="/ppt/slides/slide2.xml" Id="R31b44129ad30493b" /><Relationship Type="http://schemas.openxmlformats.org/officeDocument/2006/relationships/slide" Target="/ppt/slides/slide3.xml" Id="R355a5bfe888d43f6" /><Relationship Type="http://schemas.openxmlformats.org/officeDocument/2006/relationships/slide" Target="/ppt/slides/slide4.xml" Id="R38f4c53f15634fb5" /><Relationship Type="http://schemas.openxmlformats.org/officeDocument/2006/relationships/slide" Target="/ppt/slides/slide5.xml" Id="R4537c5f14fd04d23" /><Relationship Type="http://schemas.openxmlformats.org/officeDocument/2006/relationships/slide" Target="/ppt/slides/slide6.xml" Id="Rdfb95a5829344f7a" /><Relationship Type="http://schemas.openxmlformats.org/officeDocument/2006/relationships/slide" Target="/ppt/slides/slide7.xml" Id="R94e8db127e564ddd" /><Relationship Type="http://schemas.openxmlformats.org/officeDocument/2006/relationships/slide" Target="/ppt/slides/slide8.xml" Id="Rf4e7be3d7d0e4843" /><Relationship Type="http://schemas.openxmlformats.org/officeDocument/2006/relationships/slide" Target="/ppt/slides/slide9.xml" Id="Rbc70854113984f04" /><Relationship Type="http://schemas.openxmlformats.org/officeDocument/2006/relationships/slide" Target="/ppt/slides/slide10.xml" Id="R215018e0c2124e81" /><Relationship Type="http://schemas.openxmlformats.org/officeDocument/2006/relationships/slide" Target="/ppt/slides/slide11.xml" Id="R37b813094e14499a" /><Relationship Type="http://schemas.openxmlformats.org/officeDocument/2006/relationships/slide" Target="/ppt/slides/slide12.xml" Id="Rc139e966b99144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50b0a459f94b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9ff3551b5b41d6" /><Relationship Type="http://schemas.openxmlformats.org/officeDocument/2006/relationships/notesMaster" Target="/ppt/notesMasters/notesMaster1.xml" Id="R850c3c9e29764a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232e8617594ca5" /><Relationship Type="http://schemas.openxmlformats.org/officeDocument/2006/relationships/notesMaster" Target="/ppt/notesMasters/notesMaster1.xml" Id="R8f9a732b709245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37aeb7c74c4ad2" /><Relationship Type="http://schemas.openxmlformats.org/officeDocument/2006/relationships/notesMaster" Target="/ppt/notesMasters/notesMaster1.xml" Id="R3a4b188b361f43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025b6e0c3241ca" /><Relationship Type="http://schemas.openxmlformats.org/officeDocument/2006/relationships/notesMaster" Target="/ppt/notesMasters/notesMaster1.xml" Id="R59936016bb544f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e6a115ef5e433f" /><Relationship Type="http://schemas.openxmlformats.org/officeDocument/2006/relationships/notesMaster" Target="/ppt/notesMasters/notesMaster1.xml" Id="R29960f7f8b1446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abe7bd5d4a48ba" /><Relationship Type="http://schemas.openxmlformats.org/officeDocument/2006/relationships/notesMaster" Target="/ppt/notesMasters/notesMaster1.xml" Id="R14e32043f15442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b531a984e94739" /><Relationship Type="http://schemas.openxmlformats.org/officeDocument/2006/relationships/notesMaster" Target="/ppt/notesMasters/notesMaster1.xml" Id="R20add4252f2a4b9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946bff5bec439a" /><Relationship Type="http://schemas.openxmlformats.org/officeDocument/2006/relationships/notesMaster" Target="/ppt/notesMasters/notesMaster1.xml" Id="R6d15223cc72642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5ece08386144a2" /><Relationship Type="http://schemas.openxmlformats.org/officeDocument/2006/relationships/notesMaster" Target="/ppt/notesMasters/notesMaster1.xml" Id="R8113057f4a594c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577b71e5a941a1" /><Relationship Type="http://schemas.openxmlformats.org/officeDocument/2006/relationships/notesMaster" Target="/ppt/notesMasters/notesMaster1.xml" Id="Rb7daab7e31a046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83754f07034337" /><Relationship Type="http://schemas.openxmlformats.org/officeDocument/2006/relationships/notesMaster" Target="/ppt/notesMasters/notesMaster1.xml" Id="R38661155af6149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1a2f026bd6477c" /><Relationship Type="http://schemas.openxmlformats.org/officeDocument/2006/relationships/notesMaster" Target="/ppt/notesMasters/notesMaster1.xml" Id="Raa5c0382188d4d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study municipal service access using Statistics South Africa Census tables. Our question is whether historical services and housing indicators can identify municipalities with higher access needs in 2022. This is a small research prototype. Introduce the five group members using their real names. Source: Stats SA, https://www.statssa.gov.za/?p=17836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higher-need class means water or sanitation access was below 90 percent in 2022. Lower need requires both to reach 90 percent. The 90 percent threshold is our approved planning assumption, not an official rating. We focus on access because these tables do not support the intended reliability question adequately. This is retrospective classification rather than forecasting present outages. Source: report and approved project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joined official Addendum and Map tables using municipal codes. There are 213 unique municipalities and no missing retained predictor cells. We excluded all 2011 dwelling category counts after they failed reconciliation with household totals. We preserve raw files and record exact URLs, terms and hashes. Stats SA permits independent processing with acknowledgement, with permission required for sale. Source: 05_Results/data_audit.json and Stats SA report copyright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historical access indicators are included, alongside housing and municipal context. Direct 2022 target components and municipality names or identifiers are excluded from predictors. We split before preprocessing. Median imputation and scaling, and categorical imputation and one-hot encoding, are learned only from the appropriate training partition. The heldout sample is random, so it cannot demonstrate transfer to unseen provinces. Source: 03_Code/run_analysis.py and 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majority-class dummy provides a baseline. Logistic regression and random forest meet the traditional-model requirement. We implement an MLP and a residual tabular neural network in NumPy. The residual model uses a skip connection and is a small educational architecture inspired by tabular neural research. Both neural models use weighted binary cross entropy, Adam, dropout, L2 and early stopping. Source: neural.py and experiment_log.json. Gorishniy et al. 2021, https://arxiv.org/abs/2106.11959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chose the residual model using validation macro-F1 before looking at test results. Four-fold cross validation used training data only. The initial CV score for MLP was slightly lower than residual, and validation clearly favoured residual. We searched 16 configurations only for that family. The selected settings improved validation macro-F1 to 0.894. We did not choose a family using these final test results. Source: validation_comparison.csv and optimisation_search.json.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all selection, optimisation and ablations finished, we generated test predictions once per locked model. The final champion reaches macro-F1 0.811 on 43 cases, compared with 0.735 for MLP. The random forest scores 0.801, close to the champion. This small sample makes those differences uncertain. Source: 05_Results/test_metrics.csv.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confusion matrix has ten correctly identified lower-need cases and 26 correctly identified higher-need cases. Four higher-need municipalities were missed and three lower-need cases were flagged. Relative to the prespecified MLP comparator, the champion alone got three additional cases right. Exact McNemar p is 0.25, so we cannot claim a significant improvement. Spatial dependence and small counts further limit inference. Source: Final_champion_confusion.csv and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removed one prespecified group at a time and kept all other settings fixed. The historical access group produces the largest validation drop, about 0.181 macro-F1. Geographic and housing information also help the fitted model. These are predictive associations rather than causal effects. We use validation for ablations and leave test outcomes out of feature selection. Source: ablations.csv.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Streamlit app before the presentation. Choose Example 1 and submit, then Example 2 and Example 3. Show lower need at 3.5 percent and higher need at 96.6 and 95.4 percent. Explain that probabilities are uncalibrated model scores. Enter 150 in water access for 2011 to show percentage validation. The CSV mode uses the same validation and saved pipeline. These exact flows were tested with Streamlit AppTest. Source: interface_ui_tests.json.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tool could support exploration and manual review of municipal patterns. Where measured 2022 water and sanitation coverage already exists, compute the rule directly instead of using a prediction. This model cannot assess present reliability or individual households. We use aggregate data but still consider geographic disadvantage and proxy effects. A future study should gather current reliability data, use spatial or province holdouts and assess calibration. Source: report sections 15 to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prototype classifies the approved historical access target and produces a working local interface. The final score is promising, but the comparison with MLP is not statistically significant. All sources, splits, code, figures and saved results are supplied. The five members must review the work, understand the methods and enter their real contributions and signatures. Close by inviting questions. Source: README.md and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888fe6bd7e47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458dbed39c40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8a074835a24e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ec2ea7485944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f718b80f27947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249a8bd6f14e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CF714B-09C9-412C-90DF-52E09946D0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13BEBC-6EF7-4F0F-B606-E87FE0CA5F5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8CDF73-4304-4F5C-B2FC-919850B47E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AD1F20-9445-461B-8BFC-216DD5221C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9ED15B-FA4B-4506-814C-8FCE58BEF5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0AAD22-D7F2-49B5-ABC4-C9AD05BA7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7E72ED-35EF-4A90-A9C1-E03E08393E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342D08C-7A17-4600-B5EA-3C3F84702E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42BC5D-9BA6-4A54-9254-C9DFB6808B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0556F0-619E-4AE5-966A-5FE2F0EBBC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177052a37146ef" /><Relationship Type="http://schemas.openxmlformats.org/officeDocument/2006/relationships/slideLayout" Target="/ppt/slideLayouts/slideLayout1.xml" Id="R6a601a3e7f01481e" /><Relationship Type="http://schemas.openxmlformats.org/officeDocument/2006/relationships/slideLayout" Target="/ppt/slideLayouts/slideLayout2.xml" Id="R64941e6d85b94b4e" /><Relationship Type="http://schemas.openxmlformats.org/officeDocument/2006/relationships/slideLayout" Target="/ppt/slideLayouts/slideLayout3.xml" Id="R5fef5d13bde6421e" /><Relationship Type="http://schemas.openxmlformats.org/officeDocument/2006/relationships/slideLayout" Target="/ppt/slideLayouts/slideLayout4.xml" Id="Rb2d0aff0233c4606" /><Relationship Type="http://schemas.openxmlformats.org/officeDocument/2006/relationships/slideLayout" Target="/ppt/slideLayouts/slideLayout5.xml" Id="R43389d322e6f405e" /><Relationship Type="http://schemas.openxmlformats.org/officeDocument/2006/relationships/slideLayout" Target="/ppt/slideLayouts/slideLayout6.xml" Id="R67204adb8dbc4e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01a3e7f01481e"/>
    <p:sldLayoutId xmlns:r="http://schemas.openxmlformats.org/officeDocument/2006/relationships" id="2147483650" r:id="R64941e6d85b94b4e"/>
    <p:sldLayoutId xmlns:r="http://schemas.openxmlformats.org/officeDocument/2006/relationships" id="2147483651" r:id="R5fef5d13bde6421e"/>
    <p:sldLayoutId xmlns:r="http://schemas.openxmlformats.org/officeDocument/2006/relationships" id="2147483652" r:id="Rb2d0aff0233c4606"/>
    <p:sldLayoutId xmlns:r="http://schemas.openxmlformats.org/officeDocument/2006/relationships" id="2147483653" r:id="R43389d322e6f405e"/>
    <p:sldLayoutId xmlns:r="http://schemas.openxmlformats.org/officeDocument/2006/relationships" id="2147483654" r:id="R67204adb8dbc4e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cfc614c3d14b2a" /><Relationship Type="http://schemas.openxmlformats.org/officeDocument/2006/relationships/notesSlide" Target="/ppt/notesSlides/notesSlide1.xml" Id="R1d5b7193588549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adca986fb44ce6" /><Relationship Type="http://schemas.openxmlformats.org/officeDocument/2006/relationships/notesSlide" Target="/ppt/notesSlides/notesSlide2.xml" Id="R1d024f584ae143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efad36f3604e8a" /><Relationship Type="http://schemas.openxmlformats.org/officeDocument/2006/relationships/notesSlide" Target="/ppt/notesSlides/notesSlide3.xml" Id="Rc5f7fa985c7442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ca780871ad4b2b" /><Relationship Type="http://schemas.openxmlformats.org/officeDocument/2006/relationships/notesSlide" Target="/ppt/notesSlides/notesSlide4.xml" Id="R7cc03a7c3e9a4c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2540b662f941ec" /><Relationship Type="http://schemas.openxmlformats.org/officeDocument/2006/relationships/notesSlide" Target="/ppt/notesSlides/notesSlide5.xml" Id="Re85b2d6f82c8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11252f8df24611" /><Relationship Type="http://schemas.openxmlformats.org/officeDocument/2006/relationships/chart" Target="/ppt/slides/charts/chart1.xml" Id="R69044397308c47ad" /><Relationship Type="http://schemas.openxmlformats.org/officeDocument/2006/relationships/notesSlide" Target="/ppt/notesSlides/notesSlide6.xml" Id="R0508d29829f94b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91f587a46e46e4" /><Relationship Type="http://schemas.openxmlformats.org/officeDocument/2006/relationships/chart" Target="/ppt/slides/charts/chart2.xml" Id="Re80377896c0f48ef" /><Relationship Type="http://schemas.openxmlformats.org/officeDocument/2006/relationships/notesSlide" Target="/ppt/notesSlides/notesSlide7.xml" Id="R1ef269f166704f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5c3ba4e4a904b2f" /><Relationship Type="http://schemas.openxmlformats.org/officeDocument/2006/relationships/notesSlide" Target="/ppt/notesSlides/notesSlide8.xml" Id="R607725882f7d4f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c14fb612654c31" /><Relationship Type="http://schemas.openxmlformats.org/officeDocument/2006/relationships/notesSlide" Target="/ppt/notesSlides/notesSlide9.xml" Id="R5383b72b0fc348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c2cc689cc9f4d2e" /><Relationship Type="http://schemas.openxmlformats.org/officeDocument/2006/relationships/notesSlide" Target="/ppt/notesSlides/notesSlide10.xml" Id="R27cc6e228c0c42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5322e652cee41f1" /><Relationship Type="http://schemas.openxmlformats.org/officeDocument/2006/relationships/notesSlide" Target="/ppt/notesSlides/notesSlide11.xml" Id="R2cd4239a53f64a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6e08cae35e49d3" /><Relationship Type="http://schemas.openxmlformats.org/officeDocument/2006/relationships/notesSlide" Target="/ppt/notesSlides/notesSlide12.xml" Id="Rb573d8dafc724c5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Initial validation macro-F1</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varyColors val="0"/>
        <c:ser>
          <c:idx val="0"/>
          <c:order val="0"/>
          <c:tx>
            <c:v>Initial validation macro-F1</c:v>
          </c:tx>
          <c:spPr>
            <a:solidFill xmlns:a="http://schemas.openxmlformats.org/drawingml/2006/main">
              <a:srgbClr val="176B75"/>
            </a:solidFill>
          </c:spPr>
          <c:cat>
            <c:strRef>
              <c:f>'Chart Data'!$A$2:$A$6</c:f>
              <c:strCache>
                <c:ptCount val="5"/>
                <c:pt idx="0">
                  <c:v>Dummy</c:v>
                </c:pt>
                <c:pt idx="1">
                  <c:v>Logistic</c:v>
                </c:pt>
                <c:pt idx="2">
                  <c:v>Forest</c:v>
                </c:pt>
                <c:pt idx="3">
                  <c:v>MLP</c:v>
                </c:pt>
                <c:pt idx="4">
                  <c:v>Residual</c:v>
                </c:pt>
              </c:strCache>
            </c:strRef>
          </c:cat>
          <c:val>
            <c:numRef>
              <c:f>'Chart Data'!$B$2:$B$6</c:f>
              <c:numCache>
                <c:formatCode>0.0</c:formatCode>
                <c:ptCount val="5"/>
                <c:pt idx="0">
                  <c:v>0.410959</c:v>
                </c:pt>
                <c:pt idx="1">
                  <c:v>0.795238</c:v>
                </c:pt>
                <c:pt idx="2">
                  <c:v>0.82346</c:v>
                </c:pt>
                <c:pt idx="3">
                  <c:v>0.841133</c:v>
                </c:pt>
                <c:pt idx="4">
                  <c:v>0.865035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Test macro-F1</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varyColors val="0"/>
        <c:ser>
          <c:idx val="0"/>
          <c:order val="0"/>
          <c:tx>
            <c:v>Test macro-F1</c:v>
          </c:tx>
          <c:spPr>
            <a:solidFill xmlns:a="http://schemas.openxmlformats.org/drawingml/2006/main">
              <a:srgbClr val="176B75"/>
            </a:solidFill>
          </c:spPr>
          <c:cat>
            <c:strRef>
              <c:f>'Chart Data'!$A$2:$A$7</c:f>
              <c:strCache>
                <c:ptCount val="6"/>
                <c:pt idx="0">
                  <c:v>Dummy</c:v>
                </c:pt>
                <c:pt idx="1">
                  <c:v>Logistic</c:v>
                </c:pt>
                <c:pt idx="2">
                  <c:v>Forest</c:v>
                </c:pt>
                <c:pt idx="3">
                  <c:v>MLP</c:v>
                </c:pt>
                <c:pt idx="4">
                  <c:v>Residual</c:v>
                </c:pt>
                <c:pt idx="5">
                  <c:v>Final</c:v>
                </c:pt>
              </c:strCache>
            </c:strRef>
          </c:cat>
          <c:val>
            <c:numRef>
              <c:f>'Chart Data'!$B$2:$B$7</c:f>
              <c:numCache>
                <c:formatCode>0.0</c:formatCode>
                <c:ptCount val="6"/>
                <c:pt idx="0">
                  <c:v>0.410959</c:v>
                </c:pt>
                <c:pt idx="1">
                  <c:v>0.76588</c:v>
                </c:pt>
                <c:pt idx="2">
                  <c:v>0.800926</c:v>
                </c:pt>
                <c:pt idx="3">
                  <c:v>0.735222</c:v>
                </c:pt>
                <c:pt idx="4">
                  <c:v>0.788177</c:v>
                </c:pt>
                <c:pt idx="5">
                  <c:v>0.811048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A3BFD3-FAF4-4AA5-A815-2BF276E1F4E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Municipal water and sanitation access needs</a:t>
            </a:r>
          </a:p>
        </p:txBody>
      </p:sp>
      <p:sp>
        <p:nvSpPr>
          <p:cNvPr id="2" name="">
            <a:extLst xmlns:a="http://schemas.openxmlformats.org/drawingml/2006/main">
              <a:ext uri="{FF2B5EF4-FFF2-40B4-BE49-F238E27FC236}">
                <a16:creationId xmlns:a16="http://schemas.microsoft.com/office/drawing/2014/main" id="{9BD7C811-1DA3-461C-9DF9-95158D0FB63D}"/>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1   0:45</a:t>
            </a:r>
          </a:p>
        </p:txBody>
      </p:sp>
      <p:sp>
        <p:nvSpPr>
          <p:cNvPr id="3" name="">
            <a:extLst xmlns:a="http://schemas.openxmlformats.org/drawingml/2006/main">
              <a:ext uri="{FF2B5EF4-FFF2-40B4-BE49-F238E27FC236}">
                <a16:creationId xmlns:a16="http://schemas.microsoft.com/office/drawing/2014/main" id="{F8683A20-9752-4F9E-8301-2A0204943AE7}"/>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1</a:t>
            </a:r>
          </a:p>
        </p:txBody>
      </p:sp>
      <p:sp>
        <p:nvSpPr>
          <p:cNvPr id="4" name="">
            <a:extLst xmlns:a="http://schemas.openxmlformats.org/drawingml/2006/main">
              <a:ext uri="{FF2B5EF4-FFF2-40B4-BE49-F238E27FC236}">
                <a16:creationId xmlns:a16="http://schemas.microsoft.com/office/drawing/2014/main" id="{9C21432F-1538-4495-A680-B74368E00502}"/>
              </a:ext>
            </a:extLst>
          </p:cNvPr>
          <p:cNvSpPr>
            <a:spLocks xmlns:a="http://schemas.openxmlformats.org/drawingml/2006/main" noGrp="1"/>
          </p:cNvSpPr>
          <p:nvPr/>
        </p:nvSpPr>
        <p:spPr>
          <a:xfrm xmlns:a="http://schemas.openxmlformats.org/drawingml/2006/main">
            <a:off x="666750" y="2095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43A4A"/>
                </a:solidFill>
                <a:latin typeface="DejaVu Sans"/>
                <a:ea typeface="DejaVu Sans"/>
                <a:cs typeface="DejaVu Sans"/>
              </a:defRPr>
            </a:defPPr>
          </a:lstStyle>
          <a:p xmlns:a="http://schemas.openxmlformats.org/drawingml/2006/main">
            <a:pPr>
              <a:defRPr sz="2550" b="0">
                <a:solidFill>
                  <a:srgbClr val="143A4A"/>
                </a:solidFill>
                <a:latin typeface="DejaVu Sans"/>
                <a:ea typeface="DejaVu Sans"/>
                <a:cs typeface="DejaVu Sans"/>
              </a:defRPr>
            </a:pPr>
            <a:r>
              <a:rPr sz="2550" b="0">
                <a:solidFill>
                  <a:srgbClr val="143A4A"/>
                </a:solidFill>
                <a:latin typeface="DejaVu Sans"/>
                <a:ea typeface="DejaVu Sans"/>
                <a:cs typeface="DejaVu Sans"/>
              </a:rPr>
              <a:t>Statistics South Africa Census 2011 and 2022</a:t>
            </a:r>
          </a:p>
        </p:txBody>
      </p:sp>
      <p:sp>
        <p:nvSpPr>
          <p:cNvPr id="5" name="">
            <a:extLst xmlns:a="http://schemas.openxmlformats.org/drawingml/2006/main">
              <a:ext uri="{FF2B5EF4-FFF2-40B4-BE49-F238E27FC236}">
                <a16:creationId xmlns:a16="http://schemas.microsoft.com/office/drawing/2014/main" id="{F53BEC29-2887-451F-931F-638F8BE364E8}"/>
              </a:ext>
            </a:extLst>
          </p:cNvPr>
          <p:cNvSpPr>
            <a:spLocks xmlns:a="http://schemas.openxmlformats.org/drawingml/2006/main" noGrp="1"/>
          </p:cNvSpPr>
          <p:nvPr/>
        </p:nvSpPr>
        <p:spPr>
          <a:xfrm xmlns:a="http://schemas.openxmlformats.org/drawingml/2006/main">
            <a:off x="666750" y="342900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A4A"/>
                </a:solidFill>
                <a:latin typeface="DejaVu Sans"/>
                <a:ea typeface="DejaVu Sans"/>
                <a:cs typeface="DejaVu Sans"/>
              </a:defRPr>
            </a:defPPr>
          </a:lstStyle>
          <a:p xmlns:a="http://schemas.openxmlformats.org/drawingml/2006/main">
            <a:pPr>
              <a:defRPr sz="2175" b="0">
                <a:solidFill>
                  <a:srgbClr val="143A4A"/>
                </a:solidFill>
                <a:latin typeface="DejaVu Sans"/>
                <a:ea typeface="DejaVu Sans"/>
                <a:cs typeface="DejaVu Sans"/>
              </a:defRPr>
            </a:pPr>
            <a:r>
              <a:rPr sz="2175" b="0">
                <a:solidFill>
                  <a:srgbClr val="143A4A"/>
                </a:solidFill>
                <a:latin typeface="DejaVu Sans"/>
                <a:ea typeface="DejaVu Sans"/>
                <a:cs typeface="DejaVu Sans"/>
              </a:rPr>
              <a:t>213 municipalities</a:t>
            </a:r>
          </a:p>
          <a:p xmlns:a="http://schemas.openxmlformats.org/drawingml/2006/main">
            <a:pPr>
              <a:defRPr sz="2175" b="0">
                <a:solidFill>
                  <a:srgbClr val="143A4A"/>
                </a:solidFill>
                <a:latin typeface="DejaVu Sans"/>
                <a:ea typeface="DejaVu Sans"/>
                <a:cs typeface="DejaVu Sans"/>
              </a:defRPr>
            </a:pPr>
            <a:r>
              <a:rPr sz="2175" b="0">
                <a:solidFill>
                  <a:srgbClr val="143A4A"/>
                </a:solidFill>
                <a:latin typeface="DejaVu Sans"/>
                <a:ea typeface="DejaVu Sans"/>
                <a:cs typeface="DejaVu Sans"/>
              </a:rPr>
              <a:t>Classification study with a local Streamlit interface</a:t>
            </a:r>
          </a:p>
        </p:txBody>
      </p:sp>
    </p:spTree>
    <p:extLst>
      <p:ext uri="{BB962C8B-B14F-4D97-AF65-F5344CB8AC3E}">
        <p14:creationId xmlns:p14="http://schemas.microsoft.com/office/powerpoint/2010/main" val="1100892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F51E24-37B9-45BB-A32B-B4AD48817C93}"/>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Research question and target</a:t>
            </a:r>
          </a:p>
        </p:txBody>
      </p:sp>
      <p:sp>
        <p:nvSpPr>
          <p:cNvPr id="2" name="">
            <a:extLst xmlns:a="http://schemas.openxmlformats.org/drawingml/2006/main">
              <a:ext uri="{FF2B5EF4-FFF2-40B4-BE49-F238E27FC236}">
                <a16:creationId xmlns:a16="http://schemas.microsoft.com/office/drawing/2014/main" id="{5B77C9C1-1D61-4312-8692-41A6695FAD5A}"/>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1   0:55</a:t>
            </a:r>
          </a:p>
        </p:txBody>
      </p:sp>
      <p:sp>
        <p:nvSpPr>
          <p:cNvPr id="3" name="">
            <a:extLst xmlns:a="http://schemas.openxmlformats.org/drawingml/2006/main">
              <a:ext uri="{FF2B5EF4-FFF2-40B4-BE49-F238E27FC236}">
                <a16:creationId xmlns:a16="http://schemas.microsoft.com/office/drawing/2014/main" id="{3B8E98AA-E2AF-4B70-9CF8-DBD9BFC8C180}"/>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2</a:t>
            </a:r>
          </a:p>
        </p:txBody>
      </p:sp>
      <p:sp>
        <p:nvSpPr>
          <p:cNvPr id="4" name="">
            <a:extLst xmlns:a="http://schemas.openxmlformats.org/drawingml/2006/main">
              <a:ext uri="{FF2B5EF4-FFF2-40B4-BE49-F238E27FC236}">
                <a16:creationId xmlns:a16="http://schemas.microsoft.com/office/drawing/2014/main" id="{14BD2954-46F0-4F49-B6B7-D55F02764002}"/>
              </a:ext>
            </a:extLst>
          </p:cNvPr>
          <p:cNvSpPr>
            <a:spLocks xmlns:a="http://schemas.openxmlformats.org/drawingml/2006/main" noGrp="1"/>
          </p:cNvSpPr>
          <p:nvPr/>
        </p:nvSpPr>
        <p:spPr>
          <a:xfrm xmlns:a="http://schemas.openxmlformats.org/drawingml/2006/main">
            <a:off x="666750" y="180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Can municipal indicators identify higher access needs in 2022?</a:t>
            </a:r>
          </a:p>
        </p:txBody>
      </p:sp>
      <p:sp>
        <p:nvSpPr>
          <p:cNvPr id="5" name="">
            <a:extLst xmlns:a="http://schemas.openxmlformats.org/drawingml/2006/main">
              <a:ext uri="{FF2B5EF4-FFF2-40B4-BE49-F238E27FC236}">
                <a16:creationId xmlns:a16="http://schemas.microsoft.com/office/drawing/2014/main" id="{10D3CA3F-4AB8-4713-B8D0-D60763DE12A5}"/>
              </a:ext>
            </a:extLst>
          </p:cNvPr>
          <p:cNvSpPr>
            <a:spLocks xmlns:a="http://schemas.openxmlformats.org/drawingml/2006/main" noGrp="1"/>
          </p:cNvSpPr>
          <p:nvPr/>
        </p:nvSpPr>
        <p:spPr>
          <a:xfrm xmlns:a="http://schemas.openxmlformats.org/drawingml/2006/main">
            <a:off x="666750" y="2762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Higher need: water &lt; 90% OR sanitation &lt; 90%</a:t>
            </a:r>
          </a:p>
        </p:txBody>
      </p:sp>
      <p:sp>
        <p:nvSpPr>
          <p:cNvPr id="6" name="">
            <a:extLst xmlns:a="http://schemas.openxmlformats.org/drawingml/2006/main">
              <a:ext uri="{FF2B5EF4-FFF2-40B4-BE49-F238E27FC236}">
                <a16:creationId xmlns:a16="http://schemas.microsoft.com/office/drawing/2014/main" id="{3650D997-B12C-479E-B697-81039BF68F3E}"/>
              </a:ext>
            </a:extLst>
          </p:cNvPr>
          <p:cNvSpPr>
            <a:spLocks xmlns:a="http://schemas.openxmlformats.org/drawingml/2006/main" noGrp="1"/>
          </p:cNvSpPr>
          <p:nvPr/>
        </p:nvSpPr>
        <p:spPr>
          <a:xfrm xmlns:a="http://schemas.openxmlformats.org/drawingml/2006/main">
            <a:off x="666750" y="3714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Lower need: water ≥ 90% AND sanitation ≥ 90%</a:t>
            </a:r>
          </a:p>
        </p:txBody>
      </p:sp>
      <p:sp>
        <p:nvSpPr>
          <p:cNvPr id="7" name="">
            <a:extLst xmlns:a="http://schemas.openxmlformats.org/drawingml/2006/main">
              <a:ext uri="{FF2B5EF4-FFF2-40B4-BE49-F238E27FC236}">
                <a16:creationId xmlns:a16="http://schemas.microsoft.com/office/drawing/2014/main" id="{278DEEA5-740C-4915-999B-B11A4BCC15CE}"/>
              </a:ext>
            </a:extLst>
          </p:cNvPr>
          <p:cNvSpPr>
            <a:spLocks xmlns:a="http://schemas.openxmlformats.org/drawingml/2006/main" noGrp="1"/>
          </p:cNvSpPr>
          <p:nvPr/>
        </p:nvSpPr>
        <p:spPr>
          <a:xfrm xmlns:a="http://schemas.openxmlformats.org/drawingml/2006/main">
            <a:off x="666750" y="4667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The 90% boundary is a project planning rule</a:t>
            </a:r>
          </a:p>
        </p:txBody>
      </p:sp>
    </p:spTree>
    <p:extLst>
      <p:ext uri="{BB962C8B-B14F-4D97-AF65-F5344CB8AC3E}">
        <p14:creationId xmlns:p14="http://schemas.microsoft.com/office/powerpoint/2010/main" val="1818049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0698BA5-8FEC-4DAB-898C-2B73F8A483DC}"/>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Dataset and quality audit</a:t>
            </a:r>
          </a:p>
        </p:txBody>
      </p:sp>
      <p:sp>
        <p:nvSpPr>
          <p:cNvPr id="2" name="">
            <a:extLst xmlns:a="http://schemas.openxmlformats.org/drawingml/2006/main">
              <a:ext uri="{FF2B5EF4-FFF2-40B4-BE49-F238E27FC236}">
                <a16:creationId xmlns:a16="http://schemas.microsoft.com/office/drawing/2014/main" id="{9224EFAA-5EF8-486F-8A0E-DB3CBFD274A8}"/>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2   0:55</a:t>
            </a:r>
          </a:p>
        </p:txBody>
      </p:sp>
      <p:sp>
        <p:nvSpPr>
          <p:cNvPr id="3" name="">
            <a:extLst xmlns:a="http://schemas.openxmlformats.org/drawingml/2006/main">
              <a:ext uri="{FF2B5EF4-FFF2-40B4-BE49-F238E27FC236}">
                <a16:creationId xmlns:a16="http://schemas.microsoft.com/office/drawing/2014/main" id="{AF39A429-31AE-4DEF-873C-EC72DC29B46D}"/>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3</a:t>
            </a:r>
          </a:p>
        </p:txBody>
      </p:sp>
      <p:graphicFrame>
        <p:nvGraphicFramePr>
          <p:cNvPr id="4" name="">
            <a:extLst xmlns:a="http://schemas.openxmlformats.org/drawingml/2006/main">
              <a:ext uri="{FF2B5EF4-FFF2-40B4-BE49-F238E27FC236}">
                <a16:creationId xmlns:a16="http://schemas.microsoft.com/office/drawing/2014/main" id="{8496D274-B5E4-45E9-8738-1CC7CBEA1BEC}"/>
              </a:ext>
            </a:extLst>
          </p:cNvPr>
          <p:cNvGraphicFramePr/>
          <p:nvPr/>
        </p:nvGraphicFramePr>
        <p:xfrm>
          <a:off xmlns:a="http://schemas.openxmlformats.org/drawingml/2006/main" x="666750" y="1762125"/>
          <a:ext xmlns:a="http://schemas.openxmlformats.org/drawingml/2006/main" cx="10858500" cy="3238500"/>
        </p:xfrm>
        <a:graphic xmlns:a="http://schemas.openxmlformats.org/drawingml/2006/main">
          <a:graphicData uri="http://schemas.openxmlformats.org/drawingml/2006/table">
            <a:tbl>
              <a:tblPr/>
              <a:tblGrid>
                <a:gridCol w="6953250"/>
                <a:gridCol w="3905250"/>
              </a:tblGrid>
              <a:tr h="647700">
                <a:tc>
                  <a:txBody>
                    <a:bodyPr/>
                    <a:lstStyle/>
                    <a:p>
                      <a:r>
                        <a:rPr sz="1725" b="1">
                          <a:solidFill>
                            <a:srgbClr val="143A4A"/>
                          </a:solidFill>
                          <a:latin typeface="DejaVu Sans"/>
                          <a:ea typeface="DejaVu Sans"/>
                          <a:cs typeface="DejaVu Sans"/>
                        </a:rPr>
                        <a:t>Audit item</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Recorded result</a:t>
                      </a:r>
                    </a:p>
                  </a:txBody>
                  <a:tcPr marL="114300" marR="114300" marT="95250" marB="95250">
                    <a:solidFill>
                      <a:srgbClr val="E4F0F1"/>
                    </a:solidFill>
                  </a:tcPr>
                </a:tc>
              </a:tr>
              <a:tr h="647700">
                <a:tc>
                  <a:txBody>
                    <a:bodyPr/>
                    <a:lstStyle/>
                    <a:p>
                      <a:r>
                        <a:rPr sz="1725">
                          <a:solidFill>
                            <a:srgbClr val="143A4A"/>
                          </a:solidFill>
                          <a:latin typeface="DejaVu Sans"/>
                          <a:ea typeface="DejaVu Sans"/>
                          <a:cs typeface="DejaVu Sans"/>
                        </a:rPr>
                        <a:t>Local and metropolitan municipalities</a:t>
                      </a:r>
                    </a:p>
                  </a:txBody>
                  <a:tcPr marL="114300" marR="114300" marT="95250" marB="95250"/>
                </a:tc>
                <a:tc>
                  <a:txBody>
                    <a:bodyPr/>
                    <a:lstStyle/>
                    <a:p>
                      <a:r>
                        <a:rPr sz="1725">
                          <a:solidFill>
                            <a:srgbClr val="143A4A"/>
                          </a:solidFill>
                          <a:latin typeface="DejaVu Sans"/>
                          <a:ea typeface="DejaVu Sans"/>
                          <a:cs typeface="DejaVu Sans"/>
                        </a:rPr>
                        <a:t>213</a:t>
                      </a:r>
                    </a:p>
                  </a:txBody>
                  <a:tcPr marL="114300" marR="114300" marT="95250" marB="95250"/>
                </a:tc>
              </a:tr>
              <a:tr h="647700">
                <a:tc>
                  <a:txBody>
                    <a:bodyPr/>
                    <a:lstStyle/>
                    <a:p>
                      <a:r>
                        <a:rPr sz="1725">
                          <a:solidFill>
                            <a:srgbClr val="143A4A"/>
                          </a:solidFill>
                          <a:latin typeface="DejaVu Sans"/>
                          <a:ea typeface="DejaVu Sans"/>
                          <a:cs typeface="DejaVu Sans"/>
                        </a:rPr>
                        <a:t>Higher / lower need</a:t>
                      </a:r>
                    </a:p>
                  </a:txBody>
                  <a:tcPr marL="114300" marR="114300" marT="95250" marB="95250"/>
                </a:tc>
                <a:tc>
                  <a:txBody>
                    <a:bodyPr/>
                    <a:lstStyle/>
                    <a:p>
                      <a:r>
                        <a:rPr sz="1725">
                          <a:solidFill>
                            <a:srgbClr val="143A4A"/>
                          </a:solidFill>
                          <a:latin typeface="DejaVu Sans"/>
                          <a:ea typeface="DejaVu Sans"/>
                          <a:cs typeface="DejaVu Sans"/>
                        </a:rPr>
                        <a:t>149 / 64</a:t>
                      </a:r>
                    </a:p>
                  </a:txBody>
                  <a:tcPr marL="114300" marR="114300" marT="95250" marB="95250"/>
                </a:tc>
              </a:tr>
              <a:tr h="647700">
                <a:tc>
                  <a:txBody>
                    <a:bodyPr/>
                    <a:lstStyle/>
                    <a:p>
                      <a:r>
                        <a:rPr sz="1725">
                          <a:solidFill>
                            <a:srgbClr val="143A4A"/>
                          </a:solidFill>
                          <a:latin typeface="DejaVu Sans"/>
                          <a:ea typeface="DejaVu Sans"/>
                          <a:cs typeface="DejaVu Sans"/>
                        </a:rPr>
                        <a:t>Missing retained predictor cells / duplicates</a:t>
                      </a:r>
                    </a:p>
                  </a:txBody>
                  <a:tcPr marL="114300" marR="114300" marT="95250" marB="95250"/>
                </a:tc>
                <a:tc>
                  <a:txBody>
                    <a:bodyPr/>
                    <a:lstStyle/>
                    <a:p>
                      <a:r>
                        <a:rPr sz="1725">
                          <a:solidFill>
                            <a:srgbClr val="143A4A"/>
                          </a:solidFill>
                          <a:latin typeface="DejaVu Sans"/>
                          <a:ea typeface="DejaVu Sans"/>
                          <a:cs typeface="DejaVu Sans"/>
                        </a:rPr>
                        <a:t>0 / 0</a:t>
                      </a:r>
                    </a:p>
                  </a:txBody>
                  <a:tcPr marL="114300" marR="114300" marT="95250" marB="95250"/>
                </a:tc>
              </a:tr>
              <a:tr h="647700">
                <a:tc>
                  <a:txBody>
                    <a:bodyPr/>
                    <a:lstStyle/>
                    <a:p>
                      <a:r>
                        <a:rPr sz="1725">
                          <a:solidFill>
                            <a:srgbClr val="143A4A"/>
                          </a:solidFill>
                          <a:latin typeface="DejaVu Sans"/>
                          <a:ea typeface="DejaVu Sans"/>
                          <a:cs typeface="DejaVu Sans"/>
                        </a:rPr>
                        <a:t>2011 dwelling records failing reconciliation</a:t>
                      </a:r>
                    </a:p>
                  </a:txBody>
                  <a:tcPr marL="114300" marR="114300" marT="95250" marB="95250"/>
                </a:tc>
                <a:tc>
                  <a:txBody>
                    <a:bodyPr/>
                    <a:lstStyle/>
                    <a:p>
                      <a:r>
                        <a:rPr sz="1725">
                          <a:solidFill>
                            <a:srgbClr val="143A4A"/>
                          </a:solidFill>
                          <a:latin typeface="DejaVu Sans"/>
                          <a:ea typeface="DejaVu Sans"/>
                          <a:cs typeface="DejaVu Sans"/>
                        </a:rPr>
                        <a:t>213, excluded from predictors</a:t>
                      </a:r>
                    </a:p>
                  </a:txBody>
                  <a:tcPr marL="114300" marR="114300" marT="95250" marB="95250"/>
                </a:tc>
              </a:tr>
            </a:tbl>
          </a:graphicData>
        </a:graphic>
      </p:graphicFrame>
      <p:sp>
        <p:nvSpPr>
          <p:cNvPr id="5" name="">
            <a:extLst xmlns:a="http://schemas.openxmlformats.org/drawingml/2006/main">
              <a:ext uri="{FF2B5EF4-FFF2-40B4-BE49-F238E27FC236}">
                <a16:creationId xmlns:a16="http://schemas.microsoft.com/office/drawing/2014/main" id="{263D217A-8386-4974-9005-4517CAB18CC9}"/>
              </a:ext>
            </a:extLst>
          </p:cNvPr>
          <p:cNvSpPr>
            <a:spLocks xmlns:a="http://schemas.openxmlformats.org/drawingml/2006/main" noGrp="1"/>
          </p:cNvSpPr>
          <p:nvPr/>
        </p:nvSpPr>
        <p:spPr>
          <a:xfrm xmlns:a="http://schemas.openxmlformats.org/drawingml/2006/main">
            <a:off x="666750" y="5334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A4A"/>
                </a:solidFill>
                <a:latin typeface="DejaVu Sans"/>
                <a:ea typeface="DejaVu Sans"/>
                <a:cs typeface="DejaVu Sans"/>
              </a:defRPr>
            </a:defPPr>
          </a:lstStyle>
          <a:p xmlns:a="http://schemas.openxmlformats.org/drawingml/2006/main">
            <a:pPr>
              <a:defRPr sz="1800" b="0">
                <a:solidFill>
                  <a:srgbClr val="143A4A"/>
                </a:solidFill>
                <a:latin typeface="DejaVu Sans"/>
                <a:ea typeface="DejaVu Sans"/>
                <a:cs typeface="DejaVu Sans"/>
              </a:defRPr>
            </a:pPr>
            <a:r>
              <a:rPr sz="1800" b="0">
                <a:solidFill>
                  <a:srgbClr val="143A4A"/>
                </a:solidFill>
                <a:latin typeface="DejaVu Sans"/>
                <a:ea typeface="DejaVu Sans"/>
                <a:cs typeface="DejaVu Sans"/>
              </a:rPr>
              <a:t>Original XLSX files, transformations and data dictionary are included</a:t>
            </a:r>
          </a:p>
        </p:txBody>
      </p:sp>
    </p:spTree>
    <p:extLst>
      <p:ext uri="{BB962C8B-B14F-4D97-AF65-F5344CB8AC3E}">
        <p14:creationId xmlns:p14="http://schemas.microsoft.com/office/powerpoint/2010/main" val="12619206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D75ECC-0969-4C3B-A6FB-4578DB66F613}"/>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Predictors and split design</a:t>
            </a:r>
          </a:p>
        </p:txBody>
      </p:sp>
      <p:sp>
        <p:nvSpPr>
          <p:cNvPr id="2" name="">
            <a:extLst xmlns:a="http://schemas.openxmlformats.org/drawingml/2006/main">
              <a:ext uri="{FF2B5EF4-FFF2-40B4-BE49-F238E27FC236}">
                <a16:creationId xmlns:a16="http://schemas.microsoft.com/office/drawing/2014/main" id="{D1857151-68CD-4D36-B98F-7EAB2CBA8834}"/>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2   0:55</a:t>
            </a:r>
          </a:p>
        </p:txBody>
      </p:sp>
      <p:sp>
        <p:nvSpPr>
          <p:cNvPr id="3" name="">
            <a:extLst xmlns:a="http://schemas.openxmlformats.org/drawingml/2006/main">
              <a:ext uri="{FF2B5EF4-FFF2-40B4-BE49-F238E27FC236}">
                <a16:creationId xmlns:a16="http://schemas.microsoft.com/office/drawing/2014/main" id="{8E9833A3-2531-419B-9A87-69C73D5E5FE9}"/>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4</a:t>
            </a:r>
          </a:p>
        </p:txBody>
      </p:sp>
      <p:sp>
        <p:nvSpPr>
          <p:cNvPr id="4" name="">
            <a:extLst xmlns:a="http://schemas.openxmlformats.org/drawingml/2006/main">
              <a:ext uri="{FF2B5EF4-FFF2-40B4-BE49-F238E27FC236}">
                <a16:creationId xmlns:a16="http://schemas.microsoft.com/office/drawing/2014/main" id="{B1B04965-034B-49B8-BCDC-2FDB37000F4B}"/>
              </a:ext>
            </a:extLst>
          </p:cNvPr>
          <p:cNvSpPr>
            <a:spLocks xmlns:a="http://schemas.openxmlformats.org/drawingml/2006/main" noGrp="1"/>
          </p:cNvSpPr>
          <p:nvPr/>
        </p:nvSpPr>
        <p:spPr>
          <a:xfrm xmlns:a="http://schemas.openxmlformats.org/drawingml/2006/main">
            <a:off x="666750" y="180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14 predictors: historical services, housing and geography</a:t>
            </a:r>
          </a:p>
        </p:txBody>
      </p:sp>
      <p:sp>
        <p:nvSpPr>
          <p:cNvPr id="5" name="">
            <a:extLst xmlns:a="http://schemas.openxmlformats.org/drawingml/2006/main">
              <a:ext uri="{FF2B5EF4-FFF2-40B4-BE49-F238E27FC236}">
                <a16:creationId xmlns:a16="http://schemas.microsoft.com/office/drawing/2014/main" id="{FD3CA87F-B8F1-4799-875F-0D50116934F3}"/>
              </a:ext>
            </a:extLst>
          </p:cNvPr>
          <p:cNvSpPr>
            <a:spLocks xmlns:a="http://schemas.openxmlformats.org/drawingml/2006/main" noGrp="1"/>
          </p:cNvSpPr>
          <p:nvPr/>
        </p:nvSpPr>
        <p:spPr>
          <a:xfrm xmlns:a="http://schemas.openxmlformats.org/drawingml/2006/main">
            <a:off x="666750" y="2762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127 training, 43 validation, 43 test municipalities</a:t>
            </a:r>
          </a:p>
        </p:txBody>
      </p:sp>
      <p:sp>
        <p:nvSpPr>
          <p:cNvPr id="6" name="">
            <a:extLst xmlns:a="http://schemas.openxmlformats.org/drawingml/2006/main">
              <a:ext uri="{FF2B5EF4-FFF2-40B4-BE49-F238E27FC236}">
                <a16:creationId xmlns:a16="http://schemas.microsoft.com/office/drawing/2014/main" id="{85549916-4C90-4E8E-B3CA-A09A91968B23}"/>
              </a:ext>
            </a:extLst>
          </p:cNvPr>
          <p:cNvSpPr>
            <a:spLocks xmlns:a="http://schemas.openxmlformats.org/drawingml/2006/main" noGrp="1"/>
          </p:cNvSpPr>
          <p:nvPr/>
        </p:nvSpPr>
        <p:spPr>
          <a:xfrm xmlns:a="http://schemas.openxmlformats.org/drawingml/2006/main">
            <a:off x="666750" y="3714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Seed 42 with stratification on the target</a:t>
            </a:r>
          </a:p>
        </p:txBody>
      </p:sp>
      <p:sp>
        <p:nvSpPr>
          <p:cNvPr id="7" name="">
            <a:extLst xmlns:a="http://schemas.openxmlformats.org/drawingml/2006/main">
              <a:ext uri="{FF2B5EF4-FFF2-40B4-BE49-F238E27FC236}">
                <a16:creationId xmlns:a16="http://schemas.microsoft.com/office/drawing/2014/main" id="{A25CECAC-2122-463E-8436-470C3389F4CE}"/>
              </a:ext>
            </a:extLst>
          </p:cNvPr>
          <p:cNvSpPr>
            <a:spLocks xmlns:a="http://schemas.openxmlformats.org/drawingml/2006/main" noGrp="1"/>
          </p:cNvSpPr>
          <p:nvPr/>
        </p:nvSpPr>
        <p:spPr>
          <a:xfrm xmlns:a="http://schemas.openxmlformats.org/drawingml/2006/main">
            <a:off x="666750" y="4667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Fit preprocessing on training records only</a:t>
            </a:r>
          </a:p>
        </p:txBody>
      </p:sp>
    </p:spTree>
    <p:extLst>
      <p:ext uri="{BB962C8B-B14F-4D97-AF65-F5344CB8AC3E}">
        <p14:creationId xmlns:p14="http://schemas.microsoft.com/office/powerpoint/2010/main" val="14645878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308D32-EF7D-49F7-9C00-5B3D9880001B}"/>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Five initial models</a:t>
            </a:r>
          </a:p>
        </p:txBody>
      </p:sp>
      <p:sp>
        <p:nvSpPr>
          <p:cNvPr id="2" name="">
            <a:extLst xmlns:a="http://schemas.openxmlformats.org/drawingml/2006/main">
              <a:ext uri="{FF2B5EF4-FFF2-40B4-BE49-F238E27FC236}">
                <a16:creationId xmlns:a16="http://schemas.microsoft.com/office/drawing/2014/main" id="{9D067EAE-95FB-42CA-86F5-A38D1153E639}"/>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3   0:55</a:t>
            </a:r>
          </a:p>
        </p:txBody>
      </p:sp>
      <p:sp>
        <p:nvSpPr>
          <p:cNvPr id="3" name="">
            <a:extLst xmlns:a="http://schemas.openxmlformats.org/drawingml/2006/main">
              <a:ext uri="{FF2B5EF4-FFF2-40B4-BE49-F238E27FC236}">
                <a16:creationId xmlns:a16="http://schemas.microsoft.com/office/drawing/2014/main" id="{6DDF3205-F23B-4097-A8C5-B007DAF5B323}"/>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5</a:t>
            </a:r>
          </a:p>
        </p:txBody>
      </p:sp>
      <p:graphicFrame>
        <p:nvGraphicFramePr>
          <p:cNvPr id="4" name="">
            <a:extLst xmlns:a="http://schemas.openxmlformats.org/drawingml/2006/main">
              <a:ext uri="{FF2B5EF4-FFF2-40B4-BE49-F238E27FC236}">
                <a16:creationId xmlns:a16="http://schemas.microsoft.com/office/drawing/2014/main" id="{FDA12FB4-573A-4C16-907B-385B6CD35639}"/>
              </a:ext>
            </a:extLst>
          </p:cNvPr>
          <p:cNvGraphicFramePr/>
          <p:nvPr/>
        </p:nvGraphicFramePr>
        <p:xfrm>
          <a:off xmlns:a="http://schemas.openxmlformats.org/drawingml/2006/main" x="666750" y="1714500"/>
          <a:ext xmlns:a="http://schemas.openxmlformats.org/drawingml/2006/main" cx="10858500" cy="3905250"/>
        </p:xfrm>
        <a:graphic xmlns:a="http://schemas.openxmlformats.org/drawingml/2006/main">
          <a:graphicData uri="http://schemas.openxmlformats.org/drawingml/2006/table">
            <a:tbl>
              <a:tblPr/>
              <a:tblGrid>
                <a:gridCol w="4953000"/>
                <a:gridCol w="5905500"/>
              </a:tblGrid>
              <a:tr h="650875">
                <a:tc>
                  <a:txBody>
                    <a:bodyPr/>
                    <a:lstStyle/>
                    <a:p>
                      <a:r>
                        <a:rPr sz="1725" b="1">
                          <a:solidFill>
                            <a:srgbClr val="143A4A"/>
                          </a:solidFill>
                          <a:latin typeface="DejaVu Sans"/>
                          <a:ea typeface="DejaVu Sans"/>
                          <a:cs typeface="DejaVu Sans"/>
                        </a:rPr>
                        <a:t>Model</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Role</a:t>
                      </a:r>
                    </a:p>
                  </a:txBody>
                  <a:tcPr marL="114300" marR="114300" marT="95250" marB="95250">
                    <a:solidFill>
                      <a:srgbClr val="E4F0F1"/>
                    </a:solidFill>
                  </a:tcPr>
                </a:tc>
              </a:tr>
              <a:tr h="650875">
                <a:tc>
                  <a:txBody>
                    <a:bodyPr/>
                    <a:lstStyle/>
                    <a:p>
                      <a:r>
                        <a:rPr sz="1725">
                          <a:solidFill>
                            <a:srgbClr val="143A4A"/>
                          </a:solidFill>
                          <a:latin typeface="DejaVu Sans"/>
                          <a:ea typeface="DejaVu Sans"/>
                          <a:cs typeface="DejaVu Sans"/>
                        </a:rPr>
                        <a:t>Majority dummy</a:t>
                      </a:r>
                    </a:p>
                  </a:txBody>
                  <a:tcPr marL="114300" marR="114300" marT="95250" marB="95250"/>
                </a:tc>
                <a:tc>
                  <a:txBody>
                    <a:bodyPr/>
                    <a:lstStyle/>
                    <a:p>
                      <a:r>
                        <a:rPr sz="1725">
                          <a:solidFill>
                            <a:srgbClr val="143A4A"/>
                          </a:solidFill>
                          <a:latin typeface="DejaVu Sans"/>
                          <a:ea typeface="DejaVu Sans"/>
                          <a:cs typeface="DejaVu Sans"/>
                        </a:rPr>
                        <a:t>Reference baseline</a:t>
                      </a:r>
                    </a:p>
                  </a:txBody>
                  <a:tcPr marL="114300" marR="114300" marT="95250" marB="95250"/>
                </a:tc>
              </a:tr>
              <a:tr h="650875">
                <a:tc>
                  <a:txBody>
                    <a:bodyPr/>
                    <a:lstStyle/>
                    <a:p>
                      <a:r>
                        <a:rPr sz="1725">
                          <a:solidFill>
                            <a:srgbClr val="143A4A"/>
                          </a:solidFill>
                          <a:latin typeface="DejaVu Sans"/>
                          <a:ea typeface="DejaVu Sans"/>
                          <a:cs typeface="DejaVu Sans"/>
                        </a:rPr>
                        <a:t>Logistic regression</a:t>
                      </a:r>
                    </a:p>
                  </a:txBody>
                  <a:tcPr marL="114300" marR="114300" marT="95250" marB="95250"/>
                </a:tc>
                <a:tc>
                  <a:txBody>
                    <a:bodyPr/>
                    <a:lstStyle/>
                    <a:p>
                      <a:r>
                        <a:rPr sz="1725">
                          <a:solidFill>
                            <a:srgbClr val="143A4A"/>
                          </a:solidFill>
                          <a:latin typeface="DejaVu Sans"/>
                          <a:ea typeface="DejaVu Sans"/>
                          <a:cs typeface="DejaVu Sans"/>
                        </a:rPr>
                        <a:t>Traditional linear classifier</a:t>
                      </a:r>
                    </a:p>
                  </a:txBody>
                  <a:tcPr marL="114300" marR="114300" marT="95250" marB="95250"/>
                </a:tc>
              </a:tr>
              <a:tr h="650875">
                <a:tc>
                  <a:txBody>
                    <a:bodyPr/>
                    <a:lstStyle/>
                    <a:p>
                      <a:r>
                        <a:rPr sz="1725">
                          <a:solidFill>
                            <a:srgbClr val="143A4A"/>
                          </a:solidFill>
                          <a:latin typeface="DejaVu Sans"/>
                          <a:ea typeface="DejaVu Sans"/>
                          <a:cs typeface="DejaVu Sans"/>
                        </a:rPr>
                        <a:t>Random forest</a:t>
                      </a:r>
                    </a:p>
                  </a:txBody>
                  <a:tcPr marL="114300" marR="114300" marT="95250" marB="95250"/>
                </a:tc>
                <a:tc>
                  <a:txBody>
                    <a:bodyPr/>
                    <a:lstStyle/>
                    <a:p>
                      <a:r>
                        <a:rPr sz="1725">
                          <a:solidFill>
                            <a:srgbClr val="143A4A"/>
                          </a:solidFill>
                          <a:latin typeface="DejaVu Sans"/>
                          <a:ea typeface="DejaVu Sans"/>
                          <a:cs typeface="DejaVu Sans"/>
                        </a:rPr>
                        <a:t>Traditional nonlinear classifier</a:t>
                      </a:r>
                    </a:p>
                  </a:txBody>
                  <a:tcPr marL="114300" marR="114300" marT="95250" marB="95250"/>
                </a:tc>
              </a:tr>
              <a:tr h="650875">
                <a:tc>
                  <a:txBody>
                    <a:bodyPr/>
                    <a:lstStyle/>
                    <a:p>
                      <a:r>
                        <a:rPr sz="1725">
                          <a:solidFill>
                            <a:srgbClr val="143A4A"/>
                          </a:solidFill>
                          <a:latin typeface="DejaVu Sans"/>
                          <a:ea typeface="DejaVu Sans"/>
                          <a:cs typeface="DejaVu Sans"/>
                        </a:rPr>
                        <a:t>MLP</a:t>
                      </a:r>
                    </a:p>
                  </a:txBody>
                  <a:tcPr marL="114300" marR="114300" marT="95250" marB="95250"/>
                </a:tc>
                <a:tc>
                  <a:txBody>
                    <a:bodyPr/>
                    <a:lstStyle/>
                    <a:p>
                      <a:r>
                        <a:rPr sz="1725">
                          <a:solidFill>
                            <a:srgbClr val="143A4A"/>
                          </a:solidFill>
                          <a:latin typeface="DejaVu Sans"/>
                          <a:ea typeface="DejaVu Sans"/>
                          <a:cs typeface="DejaVu Sans"/>
                        </a:rPr>
                        <a:t>Two hidden layers</a:t>
                      </a:r>
                    </a:p>
                  </a:txBody>
                  <a:tcPr marL="114300" marR="114300" marT="95250" marB="95250"/>
                </a:tc>
              </a:tr>
              <a:tr h="650875">
                <a:tc>
                  <a:txBody>
                    <a:bodyPr/>
                    <a:lstStyle/>
                    <a:p>
                      <a:r>
                        <a:rPr sz="1725">
                          <a:solidFill>
                            <a:srgbClr val="143A4A"/>
                          </a:solidFill>
                          <a:latin typeface="DejaVu Sans"/>
                          <a:ea typeface="DejaVu Sans"/>
                          <a:cs typeface="DejaVu Sans"/>
                        </a:rPr>
                        <a:t>Residual network</a:t>
                      </a:r>
                    </a:p>
                  </a:txBody>
                  <a:tcPr marL="114300" marR="114300" marT="95250" marB="95250"/>
                </a:tc>
                <a:tc>
                  <a:txBody>
                    <a:bodyPr/>
                    <a:lstStyle/>
                    <a:p>
                      <a:r>
                        <a:rPr sz="1725">
                          <a:solidFill>
                            <a:srgbClr val="143A4A"/>
                          </a:solidFill>
                          <a:latin typeface="DejaVu Sans"/>
                          <a:ea typeface="DejaVu Sans"/>
                          <a:cs typeface="DejaVu Sans"/>
                        </a:rPr>
                        <a:t>Tabular neural model with skip connection</a:t>
                      </a:r>
                    </a:p>
                  </a:txBody>
                  <a:tcPr marL="114300" marR="114300" marT="95250" marB="95250"/>
                </a:tc>
              </a:tr>
            </a:tbl>
          </a:graphicData>
        </a:graphic>
      </p:graphicFrame>
    </p:spTree>
    <p:extLst>
      <p:ext uri="{BB962C8B-B14F-4D97-AF65-F5344CB8AC3E}">
        <p14:creationId xmlns:p14="http://schemas.microsoft.com/office/powerpoint/2010/main" val="12258113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642730-73BB-466F-9BFF-E3958AE5910D}"/>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Champion selection and optimisation</a:t>
            </a:r>
          </a:p>
        </p:txBody>
      </p:sp>
      <p:sp>
        <p:nvSpPr>
          <p:cNvPr id="2" name="">
            <a:extLst xmlns:a="http://schemas.openxmlformats.org/drawingml/2006/main">
              <a:ext uri="{FF2B5EF4-FFF2-40B4-BE49-F238E27FC236}">
                <a16:creationId xmlns:a16="http://schemas.microsoft.com/office/drawing/2014/main" id="{EB51CE3F-53D0-4995-A634-5E966DEE7297}"/>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3   0:55</a:t>
            </a:r>
          </a:p>
        </p:txBody>
      </p:sp>
      <p:sp>
        <p:nvSpPr>
          <p:cNvPr id="3" name="">
            <a:extLst xmlns:a="http://schemas.openxmlformats.org/drawingml/2006/main">
              <a:ext uri="{FF2B5EF4-FFF2-40B4-BE49-F238E27FC236}">
                <a16:creationId xmlns:a16="http://schemas.microsoft.com/office/drawing/2014/main" id="{FC9923F5-61CE-47AC-9995-CA2EAF491E5B}"/>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6</a:t>
            </a:r>
          </a:p>
        </p:txBody>
      </p:sp>
      <p:graphicFrame>
        <p:nvGraphicFramePr>
          <p:cNvPr id="4" name="Chart">
            <a:extLst xmlns:a="http://schemas.openxmlformats.org/drawingml/2006/main">
              <a:ext uri="{FF2B5EF4-FFF2-40B4-BE49-F238E27FC236}">
                <a16:creationId xmlns:a16="http://schemas.microsoft.com/office/drawing/2014/main" id="{D704CE53-9434-4FE6-886A-04ACEE5C05D4}"/>
              </a:ext>
            </a:extLst>
          </p:cNvPr>
          <p:cNvGraphicFramePr/>
          <p:nvPr/>
        </p:nvGraphicFramePr>
        <p:xfrm>
          <a:off xmlns:a="http://schemas.openxmlformats.org/drawingml/2006/main" x="666750" y="1762125"/>
          <a:ext xmlns:a="http://schemas.openxmlformats.org/drawingml/2006/main" cx="10858500" cy="3476625"/>
        </p:xfrm>
        <a:graphic xmlns:a="http://schemas.openxmlformats.org/drawingml/2006/main">
          <a:graphicData uri="http://schemas.openxmlformats.org/drawingml/2006/chart">
            <c:chart xmlns:r="http://schemas.openxmlformats.org/officeDocument/2006/relationships" xmlns:c="http://schemas.openxmlformats.org/drawingml/2006/chart" r:id="R69044397308c47ad"/>
          </a:graphicData>
        </a:graphic>
      </p:graphicFrame>
      <p:sp>
        <p:nvSpPr>
          <p:cNvPr id="5" name="">
            <a:extLst xmlns:a="http://schemas.openxmlformats.org/drawingml/2006/main">
              <a:ext uri="{FF2B5EF4-FFF2-40B4-BE49-F238E27FC236}">
                <a16:creationId xmlns:a16="http://schemas.microsoft.com/office/drawing/2014/main" id="{299CF441-AA27-4E11-89F3-C3A436561110}"/>
              </a:ext>
            </a:extLst>
          </p:cNvPr>
          <p:cNvSpPr>
            <a:spLocks xmlns:a="http://schemas.openxmlformats.org/drawingml/2006/main" noGrp="1"/>
          </p:cNvSpPr>
          <p:nvPr/>
        </p:nvSpPr>
        <p:spPr>
          <a:xfrm xmlns:a="http://schemas.openxmlformats.org/drawingml/2006/main">
            <a:off x="666750" y="5429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3A4A"/>
                </a:solidFill>
                <a:latin typeface="DejaVu Sans"/>
                <a:ea typeface="DejaVu Sans"/>
                <a:cs typeface="DejaVu Sans"/>
              </a:defRPr>
            </a:defPPr>
          </a:lstStyle>
          <a:p xmlns:a="http://schemas.openxmlformats.org/drawingml/2006/main">
            <a:pPr>
              <a:defRPr sz="1950" b="0">
                <a:solidFill>
                  <a:srgbClr val="143A4A"/>
                </a:solidFill>
                <a:latin typeface="DejaVu Sans"/>
                <a:ea typeface="DejaVu Sans"/>
                <a:cs typeface="DejaVu Sans"/>
              </a:defRPr>
            </a:pPr>
            <a:r>
              <a:rPr sz="1950" b="0">
                <a:solidFill>
                  <a:srgbClr val="143A4A"/>
                </a:solidFill>
                <a:latin typeface="DejaVu Sans"/>
                <a:ea typeface="DejaVu Sans"/>
                <a:cs typeface="DejaVu Sans"/>
              </a:rPr>
              <a:t>16 champion configurations   Final validation macro-F1: 0.894</a:t>
            </a:r>
          </a:p>
        </p:txBody>
      </p:sp>
    </p:spTree>
    <p:extLst>
      <p:ext uri="{BB962C8B-B14F-4D97-AF65-F5344CB8AC3E}">
        <p14:creationId xmlns:p14="http://schemas.microsoft.com/office/powerpoint/2010/main" val="18485193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1DFFA1-086F-425E-826B-238661F6A99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Held-out model comparison</a:t>
            </a:r>
          </a:p>
        </p:txBody>
      </p:sp>
      <p:sp>
        <p:nvSpPr>
          <p:cNvPr id="2" name="">
            <a:extLst xmlns:a="http://schemas.openxmlformats.org/drawingml/2006/main">
              <a:ext uri="{FF2B5EF4-FFF2-40B4-BE49-F238E27FC236}">
                <a16:creationId xmlns:a16="http://schemas.microsoft.com/office/drawing/2014/main" id="{2B9BFC4B-830C-4632-9DC0-C0C539440BBB}"/>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4   0:55</a:t>
            </a:r>
          </a:p>
        </p:txBody>
      </p:sp>
      <p:sp>
        <p:nvSpPr>
          <p:cNvPr id="3" name="">
            <a:extLst xmlns:a="http://schemas.openxmlformats.org/drawingml/2006/main">
              <a:ext uri="{FF2B5EF4-FFF2-40B4-BE49-F238E27FC236}">
                <a16:creationId xmlns:a16="http://schemas.microsoft.com/office/drawing/2014/main" id="{49042DC6-F71C-4852-BE72-59BD921E013F}"/>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7</a:t>
            </a:r>
          </a:p>
        </p:txBody>
      </p:sp>
      <p:graphicFrame>
        <p:nvGraphicFramePr>
          <p:cNvPr id="4" name="Chart">
            <a:extLst xmlns:a="http://schemas.openxmlformats.org/drawingml/2006/main">
              <a:ext uri="{FF2B5EF4-FFF2-40B4-BE49-F238E27FC236}">
                <a16:creationId xmlns:a16="http://schemas.microsoft.com/office/drawing/2014/main" id="{3FC119C7-976F-4461-899B-40045B9D8B53}"/>
              </a:ext>
            </a:extLst>
          </p:cNvPr>
          <p:cNvGraphicFramePr/>
          <p:nvPr/>
        </p:nvGraphicFramePr>
        <p:xfrm>
          <a:off xmlns:a="http://schemas.openxmlformats.org/drawingml/2006/main" x="666750" y="1762125"/>
          <a:ext xmlns:a="http://schemas.openxmlformats.org/drawingml/2006/main" cx="10858500" cy="3476625"/>
        </p:xfrm>
        <a:graphic xmlns:a="http://schemas.openxmlformats.org/drawingml/2006/main">
          <a:graphicData uri="http://schemas.openxmlformats.org/drawingml/2006/chart">
            <c:chart xmlns:r="http://schemas.openxmlformats.org/officeDocument/2006/relationships" xmlns:c="http://schemas.openxmlformats.org/drawingml/2006/chart" r:id="Re80377896c0f48ef"/>
          </a:graphicData>
        </a:graphic>
      </p:graphicFrame>
      <p:sp>
        <p:nvSpPr>
          <p:cNvPr id="5" name="">
            <a:extLst xmlns:a="http://schemas.openxmlformats.org/drawingml/2006/main">
              <a:ext uri="{FF2B5EF4-FFF2-40B4-BE49-F238E27FC236}">
                <a16:creationId xmlns:a16="http://schemas.microsoft.com/office/drawing/2014/main" id="{FBDA84DC-10DF-446F-B9A7-CC138414ED58}"/>
              </a:ext>
            </a:extLst>
          </p:cNvPr>
          <p:cNvSpPr>
            <a:spLocks xmlns:a="http://schemas.openxmlformats.org/drawingml/2006/main" noGrp="1"/>
          </p:cNvSpPr>
          <p:nvPr/>
        </p:nvSpPr>
        <p:spPr>
          <a:xfrm xmlns:a="http://schemas.openxmlformats.org/drawingml/2006/main">
            <a:off x="666750" y="5429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3A4A"/>
                </a:solidFill>
                <a:latin typeface="DejaVu Sans"/>
                <a:ea typeface="DejaVu Sans"/>
                <a:cs typeface="DejaVu Sans"/>
              </a:defRPr>
            </a:defPPr>
          </a:lstStyle>
          <a:p xmlns:a="http://schemas.openxmlformats.org/drawingml/2006/main">
            <a:pPr>
              <a:defRPr sz="1950" b="0">
                <a:solidFill>
                  <a:srgbClr val="143A4A"/>
                </a:solidFill>
                <a:latin typeface="DejaVu Sans"/>
                <a:ea typeface="DejaVu Sans"/>
                <a:cs typeface="DejaVu Sans"/>
              </a:defRPr>
            </a:pPr>
            <a:r>
              <a:rPr sz="1950" b="0">
                <a:solidFill>
                  <a:srgbClr val="143A4A"/>
                </a:solidFill>
                <a:latin typeface="DejaVu Sans"/>
                <a:ea typeface="DejaVu Sans"/>
                <a:cs typeface="DejaVu Sans"/>
              </a:rPr>
              <a:t>Final accuracy: 83.7%   Higher-need recall: 86.7%   ROC AUC: 0.928</a:t>
            </a:r>
          </a:p>
        </p:txBody>
      </p:sp>
    </p:spTree>
    <p:extLst>
      <p:ext uri="{BB962C8B-B14F-4D97-AF65-F5344CB8AC3E}">
        <p14:creationId xmlns:p14="http://schemas.microsoft.com/office/powerpoint/2010/main" val="255181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1E050B-0AE8-439D-AE1C-DDA844AE597A}"/>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Errors and uncertainty</a:t>
            </a:r>
          </a:p>
        </p:txBody>
      </p:sp>
      <p:sp>
        <p:nvSpPr>
          <p:cNvPr id="2" name="">
            <a:extLst xmlns:a="http://schemas.openxmlformats.org/drawingml/2006/main">
              <a:ext uri="{FF2B5EF4-FFF2-40B4-BE49-F238E27FC236}">
                <a16:creationId xmlns:a16="http://schemas.microsoft.com/office/drawing/2014/main" id="{20C5047F-311A-4AD1-A8E1-29911E584711}"/>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4   0:55</a:t>
            </a:r>
          </a:p>
        </p:txBody>
      </p:sp>
      <p:sp>
        <p:nvSpPr>
          <p:cNvPr id="3" name="">
            <a:extLst xmlns:a="http://schemas.openxmlformats.org/drawingml/2006/main">
              <a:ext uri="{FF2B5EF4-FFF2-40B4-BE49-F238E27FC236}">
                <a16:creationId xmlns:a16="http://schemas.microsoft.com/office/drawing/2014/main" id="{31E82118-3AF5-4B7A-AFFF-5EA8B0D66A31}"/>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8</a:t>
            </a:r>
          </a:p>
        </p:txBody>
      </p:sp>
      <p:graphicFrame>
        <p:nvGraphicFramePr>
          <p:cNvPr id="4" name="">
            <a:extLst xmlns:a="http://schemas.openxmlformats.org/drawingml/2006/main">
              <a:ext uri="{FF2B5EF4-FFF2-40B4-BE49-F238E27FC236}">
                <a16:creationId xmlns:a16="http://schemas.microsoft.com/office/drawing/2014/main" id="{303E1BEF-53C6-4166-8E9E-BFEC6D50076D}"/>
              </a:ext>
            </a:extLst>
          </p:cNvPr>
          <p:cNvGraphicFramePr/>
          <p:nvPr/>
        </p:nvGraphicFramePr>
        <p:xfrm>
          <a:off xmlns:a="http://schemas.openxmlformats.org/drawingml/2006/main" x="666750" y="1762125"/>
          <a:ext xmlns:a="http://schemas.openxmlformats.org/drawingml/2006/main" cx="10858500" cy="2190750"/>
        </p:xfrm>
        <a:graphic xmlns:a="http://schemas.openxmlformats.org/drawingml/2006/main">
          <a:graphicData uri="http://schemas.openxmlformats.org/drawingml/2006/table">
            <a:tbl>
              <a:tblPr/>
              <a:tblGrid>
                <a:gridCol w="5143500"/>
                <a:gridCol w="2857500"/>
                <a:gridCol w="2857500"/>
              </a:tblGrid>
              <a:tr h="730250">
                <a:tc>
                  <a:txBody>
                    <a:bodyPr/>
                    <a:lstStyle/>
                    <a:p>
                      <a:r>
                        <a:rPr sz="1725" b="1">
                          <a:solidFill>
                            <a:srgbClr val="143A4A"/>
                          </a:solidFill>
                          <a:latin typeface="DejaVu Sans"/>
                          <a:ea typeface="DejaVu Sans"/>
                          <a:cs typeface="DejaVu Sans"/>
                        </a:rPr>
                        <a:t>Actual class</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Predicted lower</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Predicted higher</a:t>
                      </a:r>
                    </a:p>
                  </a:txBody>
                  <a:tcPr marL="114300" marR="114300" marT="95250" marB="95250">
                    <a:solidFill>
                      <a:srgbClr val="E4F0F1"/>
                    </a:solidFill>
                  </a:tcPr>
                </a:tc>
              </a:tr>
              <a:tr h="730250">
                <a:tc>
                  <a:txBody>
                    <a:bodyPr/>
                    <a:lstStyle/>
                    <a:p>
                      <a:r>
                        <a:rPr sz="1725">
                          <a:solidFill>
                            <a:srgbClr val="143A4A"/>
                          </a:solidFill>
                          <a:latin typeface="DejaVu Sans"/>
                          <a:ea typeface="DejaVu Sans"/>
                          <a:cs typeface="DejaVu Sans"/>
                        </a:rPr>
                        <a:t>Lower need</a:t>
                      </a:r>
                    </a:p>
                  </a:txBody>
                  <a:tcPr marL="114300" marR="114300" marT="95250" marB="95250"/>
                </a:tc>
                <a:tc>
                  <a:txBody>
                    <a:bodyPr/>
                    <a:lstStyle/>
                    <a:p>
                      <a:r>
                        <a:rPr sz="1725">
                          <a:solidFill>
                            <a:srgbClr val="143A4A"/>
                          </a:solidFill>
                          <a:latin typeface="DejaVu Sans"/>
                          <a:ea typeface="DejaVu Sans"/>
                          <a:cs typeface="DejaVu Sans"/>
                        </a:rPr>
                        <a:t>10</a:t>
                      </a:r>
                    </a:p>
                  </a:txBody>
                  <a:tcPr marL="114300" marR="114300" marT="95250" marB="95250"/>
                </a:tc>
                <a:tc>
                  <a:txBody>
                    <a:bodyPr/>
                    <a:lstStyle/>
                    <a:p>
                      <a:r>
                        <a:rPr sz="1725">
                          <a:solidFill>
                            <a:srgbClr val="143A4A"/>
                          </a:solidFill>
                          <a:latin typeface="DejaVu Sans"/>
                          <a:ea typeface="DejaVu Sans"/>
                          <a:cs typeface="DejaVu Sans"/>
                        </a:rPr>
                        <a:t>3</a:t>
                      </a:r>
                    </a:p>
                  </a:txBody>
                  <a:tcPr marL="114300" marR="114300" marT="95250" marB="95250"/>
                </a:tc>
              </a:tr>
              <a:tr h="730250">
                <a:tc>
                  <a:txBody>
                    <a:bodyPr/>
                    <a:lstStyle/>
                    <a:p>
                      <a:r>
                        <a:rPr sz="1725">
                          <a:solidFill>
                            <a:srgbClr val="143A4A"/>
                          </a:solidFill>
                          <a:latin typeface="DejaVu Sans"/>
                          <a:ea typeface="DejaVu Sans"/>
                          <a:cs typeface="DejaVu Sans"/>
                        </a:rPr>
                        <a:t>Higher need</a:t>
                      </a:r>
                    </a:p>
                  </a:txBody>
                  <a:tcPr marL="114300" marR="114300" marT="95250" marB="95250"/>
                </a:tc>
                <a:tc>
                  <a:txBody>
                    <a:bodyPr/>
                    <a:lstStyle/>
                    <a:p>
                      <a:r>
                        <a:rPr sz="1725">
                          <a:solidFill>
                            <a:srgbClr val="143A4A"/>
                          </a:solidFill>
                          <a:latin typeface="DejaVu Sans"/>
                          <a:ea typeface="DejaVu Sans"/>
                          <a:cs typeface="DejaVu Sans"/>
                        </a:rPr>
                        <a:t>4</a:t>
                      </a:r>
                    </a:p>
                  </a:txBody>
                  <a:tcPr marL="114300" marR="114300" marT="95250" marB="95250"/>
                </a:tc>
                <a:tc>
                  <a:txBody>
                    <a:bodyPr/>
                    <a:lstStyle/>
                    <a:p>
                      <a:r>
                        <a:rPr sz="1725">
                          <a:solidFill>
                            <a:srgbClr val="143A4A"/>
                          </a:solidFill>
                          <a:latin typeface="DejaVu Sans"/>
                          <a:ea typeface="DejaVu Sans"/>
                          <a:cs typeface="DejaVu Sans"/>
                        </a:rPr>
                        <a:t>26</a:t>
                      </a:r>
                    </a:p>
                  </a:txBody>
                  <a:tcPr marL="114300" marR="114300" marT="95250" marB="95250"/>
                </a:tc>
              </a:tr>
            </a:tbl>
          </a:graphicData>
        </a:graphic>
      </p:graphicFrame>
      <p:sp>
        <p:nvSpPr>
          <p:cNvPr id="5" name="">
            <a:extLst xmlns:a="http://schemas.openxmlformats.org/drawingml/2006/main">
              <a:ext uri="{FF2B5EF4-FFF2-40B4-BE49-F238E27FC236}">
                <a16:creationId xmlns:a16="http://schemas.microsoft.com/office/drawing/2014/main" id="{2F4438DF-EA60-407D-9B24-23691717717C}"/>
              </a:ext>
            </a:extLst>
          </p:cNvPr>
          <p:cNvSpPr>
            <a:spLocks xmlns:a="http://schemas.openxmlformats.org/drawingml/2006/main" noGrp="1"/>
          </p:cNvSpPr>
          <p:nvPr/>
        </p:nvSpPr>
        <p:spPr>
          <a:xfrm xmlns:a="http://schemas.openxmlformats.org/drawingml/2006/main">
            <a:off x="666750" y="438150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A4A"/>
                </a:solidFill>
                <a:latin typeface="DejaVu Sans"/>
                <a:ea typeface="DejaVu Sans"/>
                <a:cs typeface="DejaVu Sans"/>
              </a:defRPr>
            </a:defPPr>
          </a:lstStyle>
          <a:p xmlns:a="http://schemas.openxmlformats.org/drawingml/2006/main">
            <a:pPr>
              <a:defRPr sz="2175" b="0">
                <a:solidFill>
                  <a:srgbClr val="143A4A"/>
                </a:solidFill>
                <a:latin typeface="DejaVu Sans"/>
                <a:ea typeface="DejaVu Sans"/>
                <a:cs typeface="DejaVu Sans"/>
              </a:defRPr>
            </a:pPr>
            <a:r>
              <a:rPr sz="2175" b="0">
                <a:solidFill>
                  <a:srgbClr val="143A4A"/>
                </a:solidFill>
                <a:latin typeface="DejaVu Sans"/>
                <a:ea typeface="DejaVu Sans"/>
                <a:cs typeface="DejaVu Sans"/>
              </a:rPr>
              <a:t>Exact McNemar versus MLP: p = 0.25</a:t>
            </a:r>
          </a:p>
          <a:p xmlns:a="http://schemas.openxmlformats.org/drawingml/2006/main">
            <a:pPr>
              <a:defRPr sz="2175" b="0">
                <a:solidFill>
                  <a:srgbClr val="143A4A"/>
                </a:solidFill>
                <a:latin typeface="DejaVu Sans"/>
                <a:ea typeface="DejaVu Sans"/>
                <a:cs typeface="DejaVu Sans"/>
              </a:defRPr>
            </a:pPr>
            <a:r>
              <a:rPr sz="2175" b="0">
                <a:solidFill>
                  <a:srgbClr val="143A4A"/>
                </a:solidFill>
                <a:latin typeface="DejaVu Sans"/>
                <a:ea typeface="DejaVu Sans"/>
                <a:cs typeface="DejaVu Sans"/>
              </a:rPr>
              <a:t>No significant improvement at α = 0.05</a:t>
            </a:r>
          </a:p>
        </p:txBody>
      </p:sp>
    </p:spTree>
    <p:extLst>
      <p:ext uri="{BB962C8B-B14F-4D97-AF65-F5344CB8AC3E}">
        <p14:creationId xmlns:p14="http://schemas.microsoft.com/office/powerpoint/2010/main" val="8475785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5499C2-6BCF-4D9F-A079-96AE160F292F}"/>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Controlled ablations</a:t>
            </a:r>
          </a:p>
        </p:txBody>
      </p:sp>
      <p:sp>
        <p:nvSpPr>
          <p:cNvPr id="2" name="">
            <a:extLst xmlns:a="http://schemas.openxmlformats.org/drawingml/2006/main">
              <a:ext uri="{FF2B5EF4-FFF2-40B4-BE49-F238E27FC236}">
                <a16:creationId xmlns:a16="http://schemas.microsoft.com/office/drawing/2014/main" id="{91EAAF57-A47A-447E-9694-DC6F6AFDA8F7}"/>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4   0:45</a:t>
            </a:r>
          </a:p>
        </p:txBody>
      </p:sp>
      <p:sp>
        <p:nvSpPr>
          <p:cNvPr id="3" name="">
            <a:extLst xmlns:a="http://schemas.openxmlformats.org/drawingml/2006/main">
              <a:ext uri="{FF2B5EF4-FFF2-40B4-BE49-F238E27FC236}">
                <a16:creationId xmlns:a16="http://schemas.microsoft.com/office/drawing/2014/main" id="{574D10D9-C8C9-4A06-8352-F376FE58DCC5}"/>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9</a:t>
            </a:r>
          </a:p>
        </p:txBody>
      </p:sp>
      <p:graphicFrame>
        <p:nvGraphicFramePr>
          <p:cNvPr id="4" name="">
            <a:extLst xmlns:a="http://schemas.openxmlformats.org/drawingml/2006/main">
              <a:ext uri="{FF2B5EF4-FFF2-40B4-BE49-F238E27FC236}">
                <a16:creationId xmlns:a16="http://schemas.microsoft.com/office/drawing/2014/main" id="{8FC998CC-F6B9-4CC3-B58E-3C658ADC28BF}"/>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a:tblGrid>
                <a:gridCol w="5429250"/>
                <a:gridCol w="3143250"/>
                <a:gridCol w="2286000"/>
              </a:tblGrid>
              <a:tr h="714375">
                <a:tc>
                  <a:txBody>
                    <a:bodyPr/>
                    <a:lstStyle/>
                    <a:p>
                      <a:r>
                        <a:rPr sz="1725" b="1">
                          <a:solidFill>
                            <a:srgbClr val="143A4A"/>
                          </a:solidFill>
                          <a:latin typeface="DejaVu Sans"/>
                          <a:ea typeface="DejaVu Sans"/>
                          <a:cs typeface="DejaVu Sans"/>
                        </a:rPr>
                        <a:t>Feature group removed</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Validation macro-F1</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Change</a:t>
                      </a:r>
                    </a:p>
                  </a:txBody>
                  <a:tcPr marL="114300" marR="114300" marT="95250" marB="95250">
                    <a:solidFill>
                      <a:srgbClr val="E4F0F1"/>
                    </a:solidFill>
                  </a:tcPr>
                </a:tc>
              </a:tr>
              <a:tr h="714375">
                <a:tc>
                  <a:txBody>
                    <a:bodyPr/>
                    <a:lstStyle/>
                    <a:p>
                      <a:r>
                        <a:rPr sz="1725">
                          <a:solidFill>
                            <a:srgbClr val="143A4A"/>
                          </a:solidFill>
                          <a:latin typeface="DejaVu Sans"/>
                          <a:ea typeface="DejaVu Sans"/>
                          <a:cs typeface="DejaVu Sans"/>
                        </a:rPr>
                        <a:t>Historical services</a:t>
                      </a:r>
                    </a:p>
                  </a:txBody>
                  <a:tcPr marL="114300" marR="114300" marT="95250" marB="95250"/>
                </a:tc>
                <a:tc>
                  <a:txBody>
                    <a:bodyPr/>
                    <a:lstStyle/>
                    <a:p>
                      <a:r>
                        <a:rPr sz="1725">
                          <a:solidFill>
                            <a:srgbClr val="143A4A"/>
                          </a:solidFill>
                          <a:latin typeface="DejaVu Sans"/>
                          <a:ea typeface="DejaVu Sans"/>
                          <a:cs typeface="DejaVu Sans"/>
                        </a:rPr>
                        <a:t>0.713</a:t>
                      </a:r>
                    </a:p>
                  </a:txBody>
                  <a:tcPr marL="114300" marR="114300" marT="95250" marB="95250"/>
                </a:tc>
                <a:tc>
                  <a:txBody>
                    <a:bodyPr/>
                    <a:lstStyle/>
                    <a:p>
                      <a:r>
                        <a:rPr sz="1725">
                          <a:solidFill>
                            <a:srgbClr val="143A4A"/>
                          </a:solidFill>
                          <a:latin typeface="DejaVu Sans"/>
                          <a:ea typeface="DejaVu Sans"/>
                          <a:cs typeface="DejaVu Sans"/>
                        </a:rPr>
                        <a:t>−0.181</a:t>
                      </a:r>
                    </a:p>
                  </a:txBody>
                  <a:tcPr marL="114300" marR="114300" marT="95250" marB="95250"/>
                </a:tc>
              </a:tr>
              <a:tr h="714375">
                <a:tc>
                  <a:txBody>
                    <a:bodyPr/>
                    <a:lstStyle/>
                    <a:p>
                      <a:r>
                        <a:rPr sz="1725">
                          <a:solidFill>
                            <a:srgbClr val="143A4A"/>
                          </a:solidFill>
                          <a:latin typeface="DejaVu Sans"/>
                          <a:ea typeface="DejaVu Sans"/>
                          <a:cs typeface="DejaVu Sans"/>
                        </a:rPr>
                        <a:t>Geography</a:t>
                      </a:r>
                    </a:p>
                  </a:txBody>
                  <a:tcPr marL="114300" marR="114300" marT="95250" marB="95250"/>
                </a:tc>
                <a:tc>
                  <a:txBody>
                    <a:bodyPr/>
                    <a:lstStyle/>
                    <a:p>
                      <a:r>
                        <a:rPr sz="1725">
                          <a:solidFill>
                            <a:srgbClr val="143A4A"/>
                          </a:solidFill>
                          <a:latin typeface="DejaVu Sans"/>
                          <a:ea typeface="DejaVu Sans"/>
                          <a:cs typeface="DejaVu Sans"/>
                        </a:rPr>
                        <a:t>0.801</a:t>
                      </a:r>
                    </a:p>
                  </a:txBody>
                  <a:tcPr marL="114300" marR="114300" marT="95250" marB="95250"/>
                </a:tc>
                <a:tc>
                  <a:txBody>
                    <a:bodyPr/>
                    <a:lstStyle/>
                    <a:p>
                      <a:r>
                        <a:rPr sz="1725">
                          <a:solidFill>
                            <a:srgbClr val="143A4A"/>
                          </a:solidFill>
                          <a:latin typeface="DejaVu Sans"/>
                          <a:ea typeface="DejaVu Sans"/>
                          <a:cs typeface="DejaVu Sans"/>
                        </a:rPr>
                        <a:t>−0.093</a:t>
                      </a:r>
                    </a:p>
                  </a:txBody>
                  <a:tcPr marL="114300" marR="114300" marT="95250" marB="95250"/>
                </a:tc>
              </a:tr>
              <a:tr h="714375">
                <a:tc>
                  <a:txBody>
                    <a:bodyPr/>
                    <a:lstStyle/>
                    <a:p>
                      <a:r>
                        <a:rPr sz="1725">
                          <a:solidFill>
                            <a:srgbClr val="143A4A"/>
                          </a:solidFill>
                          <a:latin typeface="DejaVu Sans"/>
                          <a:ea typeface="DejaVu Sans"/>
                          <a:cs typeface="DejaVu Sans"/>
                        </a:rPr>
                        <a:t>Housing</a:t>
                      </a:r>
                    </a:p>
                  </a:txBody>
                  <a:tcPr marL="114300" marR="114300" marT="95250" marB="95250"/>
                </a:tc>
                <a:tc>
                  <a:txBody>
                    <a:bodyPr/>
                    <a:lstStyle/>
                    <a:p>
                      <a:r>
                        <a:rPr sz="1725">
                          <a:solidFill>
                            <a:srgbClr val="143A4A"/>
                          </a:solidFill>
                          <a:latin typeface="DejaVu Sans"/>
                          <a:ea typeface="DejaVu Sans"/>
                          <a:cs typeface="DejaVu Sans"/>
                        </a:rPr>
                        <a:t>0.805</a:t>
                      </a:r>
                    </a:p>
                  </a:txBody>
                  <a:tcPr marL="114300" marR="114300" marT="95250" marB="95250"/>
                </a:tc>
                <a:tc>
                  <a:txBody>
                    <a:bodyPr/>
                    <a:lstStyle/>
                    <a:p>
                      <a:r>
                        <a:rPr sz="1725">
                          <a:solidFill>
                            <a:srgbClr val="143A4A"/>
                          </a:solidFill>
                          <a:latin typeface="DejaVu Sans"/>
                          <a:ea typeface="DejaVu Sans"/>
                          <a:cs typeface="DejaVu Sans"/>
                        </a:rPr>
                        <a:t>−0.089</a:t>
                      </a:r>
                    </a:p>
                  </a:txBody>
                  <a:tcPr marL="114300" marR="114300" marT="95250" marB="95250"/>
                </a:tc>
              </a:tr>
            </a:tbl>
          </a:graphicData>
        </a:graphic>
      </p:graphicFrame>
      <p:sp>
        <p:nvSpPr>
          <p:cNvPr id="5" name="">
            <a:extLst xmlns:a="http://schemas.openxmlformats.org/drawingml/2006/main">
              <a:ext uri="{FF2B5EF4-FFF2-40B4-BE49-F238E27FC236}">
                <a16:creationId xmlns:a16="http://schemas.microsoft.com/office/drawing/2014/main" id="{91144649-D3D5-4326-BF04-8C7646EF2BB8}"/>
              </a:ext>
            </a:extLst>
          </p:cNvPr>
          <p:cNvSpPr>
            <a:spLocks xmlns:a="http://schemas.openxmlformats.org/drawingml/2006/main" noGrp="1"/>
          </p:cNvSpPr>
          <p:nvPr/>
        </p:nvSpPr>
        <p:spPr>
          <a:xfrm xmlns:a="http://schemas.openxmlformats.org/drawingml/2006/main">
            <a:off x="666750" y="5095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3A4A"/>
                </a:solidFill>
                <a:latin typeface="DejaVu Sans"/>
                <a:ea typeface="DejaVu Sans"/>
                <a:cs typeface="DejaVu Sans"/>
              </a:defRPr>
            </a:defPPr>
          </a:lstStyle>
          <a:p xmlns:a="http://schemas.openxmlformats.org/drawingml/2006/main">
            <a:pPr>
              <a:defRPr sz="1950" b="0">
                <a:solidFill>
                  <a:srgbClr val="143A4A"/>
                </a:solidFill>
                <a:latin typeface="DejaVu Sans"/>
                <a:ea typeface="DejaVu Sans"/>
                <a:cs typeface="DejaVu Sans"/>
              </a:defRPr>
            </a:pPr>
            <a:r>
              <a:rPr sz="1950" b="0">
                <a:solidFill>
                  <a:srgbClr val="143A4A"/>
                </a:solidFill>
                <a:latin typeface="DejaVu Sans"/>
                <a:ea typeface="DejaVu Sans"/>
                <a:cs typeface="DejaVu Sans"/>
              </a:rPr>
              <a:t>Reference champion validation macro-F1: 0.894</a:t>
            </a:r>
          </a:p>
        </p:txBody>
      </p:sp>
    </p:spTree>
    <p:extLst>
      <p:ext uri="{BB962C8B-B14F-4D97-AF65-F5344CB8AC3E}">
        <p14:creationId xmlns:p14="http://schemas.microsoft.com/office/powerpoint/2010/main" val="5442108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DA23142-C667-4993-9D56-E12E897650F2}"/>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Local interface demonstration</a:t>
            </a:r>
          </a:p>
        </p:txBody>
      </p:sp>
      <p:sp>
        <p:nvSpPr>
          <p:cNvPr id="2" name="">
            <a:extLst xmlns:a="http://schemas.openxmlformats.org/drawingml/2006/main">
              <a:ext uri="{FF2B5EF4-FFF2-40B4-BE49-F238E27FC236}">
                <a16:creationId xmlns:a16="http://schemas.microsoft.com/office/drawing/2014/main" id="{96C8EAFD-3ADD-4E2D-98C6-48B13A4F8E72}"/>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5   1:30</a:t>
            </a:r>
          </a:p>
        </p:txBody>
      </p:sp>
      <p:sp>
        <p:nvSpPr>
          <p:cNvPr id="3" name="">
            <a:extLst xmlns:a="http://schemas.openxmlformats.org/drawingml/2006/main">
              <a:ext uri="{FF2B5EF4-FFF2-40B4-BE49-F238E27FC236}">
                <a16:creationId xmlns:a16="http://schemas.microsoft.com/office/drawing/2014/main" id="{E19506A8-DFF5-4B19-957B-48B5CB7030F7}"/>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DB0A0680-4D08-4C30-92A2-540C55BD269D}"/>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a:tblGrid>
                <a:gridCol w="4286250"/>
                <a:gridCol w="6572250"/>
              </a:tblGrid>
              <a:tr h="666750">
                <a:tc>
                  <a:txBody>
                    <a:bodyPr/>
                    <a:lstStyle/>
                    <a:p>
                      <a:r>
                        <a:rPr sz="1725" b="1">
                          <a:solidFill>
                            <a:srgbClr val="143A4A"/>
                          </a:solidFill>
                          <a:latin typeface="DejaVu Sans"/>
                          <a:ea typeface="DejaVu Sans"/>
                          <a:cs typeface="DejaVu Sans"/>
                        </a:rPr>
                        <a:t>Input</a:t>
                      </a:r>
                    </a:p>
                  </a:txBody>
                  <a:tcPr marL="114300" marR="114300" marT="95250" marB="95250">
                    <a:solidFill>
                      <a:srgbClr val="E4F0F1"/>
                    </a:solidFill>
                  </a:tcPr>
                </a:tc>
                <a:tc>
                  <a:txBody>
                    <a:bodyPr/>
                    <a:lstStyle/>
                    <a:p>
                      <a:r>
                        <a:rPr sz="1725" b="1">
                          <a:solidFill>
                            <a:srgbClr val="143A4A"/>
                          </a:solidFill>
                          <a:latin typeface="DejaVu Sans"/>
                          <a:ea typeface="DejaVu Sans"/>
                          <a:cs typeface="DejaVu Sans"/>
                        </a:rPr>
                        <a:t>Verified response</a:t>
                      </a:r>
                    </a:p>
                  </a:txBody>
                  <a:tcPr marL="114300" marR="114300" marT="95250" marB="95250">
                    <a:solidFill>
                      <a:srgbClr val="E4F0F1"/>
                    </a:solidFill>
                  </a:tcPr>
                </a:tc>
              </a:tr>
              <a:tr h="666750">
                <a:tc>
                  <a:txBody>
                    <a:bodyPr/>
                    <a:lstStyle/>
                    <a:p>
                      <a:r>
                        <a:rPr sz="1725">
                          <a:solidFill>
                            <a:srgbClr val="143A4A"/>
                          </a:solidFill>
                          <a:latin typeface="DejaVu Sans"/>
                          <a:ea typeface="DejaVu Sans"/>
                          <a:cs typeface="DejaVu Sans"/>
                        </a:rPr>
                        <a:t>Valid Example 1</a:t>
                      </a:r>
                    </a:p>
                  </a:txBody>
                  <a:tcPr marL="114300" marR="114300" marT="95250" marB="95250"/>
                </a:tc>
                <a:tc>
                  <a:txBody>
                    <a:bodyPr/>
                    <a:lstStyle/>
                    <a:p>
                      <a:r>
                        <a:rPr sz="1725">
                          <a:solidFill>
                            <a:srgbClr val="143A4A"/>
                          </a:solidFill>
                          <a:latin typeface="DejaVu Sans"/>
                          <a:ea typeface="DejaVu Sans"/>
                          <a:cs typeface="DejaVu Sans"/>
                        </a:rPr>
                        <a:t>Lower need, 3.5% score</a:t>
                      </a:r>
                    </a:p>
                  </a:txBody>
                  <a:tcPr marL="114300" marR="114300" marT="95250" marB="95250"/>
                </a:tc>
              </a:tr>
              <a:tr h="666750">
                <a:tc>
                  <a:txBody>
                    <a:bodyPr/>
                    <a:lstStyle/>
                    <a:p>
                      <a:r>
                        <a:rPr sz="1725">
                          <a:solidFill>
                            <a:srgbClr val="143A4A"/>
                          </a:solidFill>
                          <a:latin typeface="DejaVu Sans"/>
                          <a:ea typeface="DejaVu Sans"/>
                          <a:cs typeface="DejaVu Sans"/>
                        </a:rPr>
                        <a:t>Valid Example 2</a:t>
                      </a:r>
                    </a:p>
                  </a:txBody>
                  <a:tcPr marL="114300" marR="114300" marT="95250" marB="95250"/>
                </a:tc>
                <a:tc>
                  <a:txBody>
                    <a:bodyPr/>
                    <a:lstStyle/>
                    <a:p>
                      <a:r>
                        <a:rPr sz="1725">
                          <a:solidFill>
                            <a:srgbClr val="143A4A"/>
                          </a:solidFill>
                          <a:latin typeface="DejaVu Sans"/>
                          <a:ea typeface="DejaVu Sans"/>
                          <a:cs typeface="DejaVu Sans"/>
                        </a:rPr>
                        <a:t>Higher need, 96.6% score</a:t>
                      </a:r>
                    </a:p>
                  </a:txBody>
                  <a:tcPr marL="114300" marR="114300" marT="95250" marB="95250"/>
                </a:tc>
              </a:tr>
              <a:tr h="666750">
                <a:tc>
                  <a:txBody>
                    <a:bodyPr/>
                    <a:lstStyle/>
                    <a:p>
                      <a:r>
                        <a:rPr sz="1725">
                          <a:solidFill>
                            <a:srgbClr val="143A4A"/>
                          </a:solidFill>
                          <a:latin typeface="DejaVu Sans"/>
                          <a:ea typeface="DejaVu Sans"/>
                          <a:cs typeface="DejaVu Sans"/>
                        </a:rPr>
                        <a:t>Valid Example 3</a:t>
                      </a:r>
                    </a:p>
                  </a:txBody>
                  <a:tcPr marL="114300" marR="114300" marT="95250" marB="95250"/>
                </a:tc>
                <a:tc>
                  <a:txBody>
                    <a:bodyPr/>
                    <a:lstStyle/>
                    <a:p>
                      <a:r>
                        <a:rPr sz="1725">
                          <a:solidFill>
                            <a:srgbClr val="143A4A"/>
                          </a:solidFill>
                          <a:latin typeface="DejaVu Sans"/>
                          <a:ea typeface="DejaVu Sans"/>
                          <a:cs typeface="DejaVu Sans"/>
                        </a:rPr>
                        <a:t>Higher need, 95.4% score</a:t>
                      </a:r>
                    </a:p>
                  </a:txBody>
                  <a:tcPr marL="114300" marR="114300" marT="95250" marB="95250"/>
                </a:tc>
              </a:tr>
              <a:tr h="666750">
                <a:tc>
                  <a:txBody>
                    <a:bodyPr/>
                    <a:lstStyle/>
                    <a:p>
                      <a:r>
                        <a:rPr sz="1725">
                          <a:solidFill>
                            <a:srgbClr val="143A4A"/>
                          </a:solidFill>
                          <a:latin typeface="DejaVu Sans"/>
                          <a:ea typeface="DejaVu Sans"/>
                          <a:cs typeface="DejaVu Sans"/>
                        </a:rPr>
                        <a:t>Water access 2011 = 150</a:t>
                      </a:r>
                    </a:p>
                  </a:txBody>
                  <a:tcPr marL="114300" marR="114300" marT="95250" marB="95250"/>
                </a:tc>
                <a:tc>
                  <a:txBody>
                    <a:bodyPr/>
                    <a:lstStyle/>
                    <a:p>
                      <a:r>
                        <a:rPr sz="1725">
                          <a:solidFill>
                            <a:srgbClr val="143A4A"/>
                          </a:solidFill>
                          <a:latin typeface="DejaVu Sans"/>
                          <a:ea typeface="DejaVu Sans"/>
                          <a:cs typeface="DejaVu Sans"/>
                        </a:rPr>
                        <a:t>Error: percentages must be between 0 and 100</a:t>
                      </a:r>
                    </a:p>
                  </a:txBody>
                  <a:tcPr marL="114300" marR="114300" marT="95250" marB="95250"/>
                </a:tc>
              </a:tr>
            </a:tbl>
          </a:graphicData>
        </a:graphic>
      </p:graphicFrame>
      <p:sp>
        <p:nvSpPr>
          <p:cNvPr id="5" name="">
            <a:extLst xmlns:a="http://schemas.openxmlformats.org/drawingml/2006/main">
              <a:ext uri="{FF2B5EF4-FFF2-40B4-BE49-F238E27FC236}">
                <a16:creationId xmlns:a16="http://schemas.microsoft.com/office/drawing/2014/main" id="{1C6827C2-338D-433C-99A2-DA460F861E48}"/>
              </a:ext>
            </a:extLst>
          </p:cNvPr>
          <p:cNvSpPr>
            <a:spLocks xmlns:a="http://schemas.openxmlformats.org/drawingml/2006/main" noGrp="1"/>
          </p:cNvSpPr>
          <p:nvPr/>
        </p:nvSpPr>
        <p:spPr>
          <a:xfrm xmlns:a="http://schemas.openxmlformats.org/drawingml/2006/main">
            <a:off x="666750" y="5334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A4A"/>
                </a:solidFill>
                <a:latin typeface="DejaVu Sans"/>
                <a:ea typeface="DejaVu Sans"/>
                <a:cs typeface="DejaVu Sans"/>
              </a:defRPr>
            </a:defPPr>
          </a:lstStyle>
          <a:p xmlns:a="http://schemas.openxmlformats.org/drawingml/2006/main">
            <a:pPr>
              <a:defRPr sz="1800" b="0">
                <a:solidFill>
                  <a:srgbClr val="143A4A"/>
                </a:solidFill>
                <a:latin typeface="DejaVu Sans"/>
                <a:ea typeface="DejaVu Sans"/>
                <a:cs typeface="DejaVu Sans"/>
              </a:defRPr>
            </a:pPr>
            <a:r>
              <a:rPr sz="1800" b="0">
                <a:solidFill>
                  <a:srgbClr val="143A4A"/>
                </a:solidFill>
                <a:latin typeface="DejaVu Sans"/>
                <a:ea typeface="DejaVu Sans"/>
                <a:cs typeface="DejaVu Sans"/>
              </a:rPr>
              <a:t>Single profile and CSV batch input use the same saved pipeline</a:t>
            </a:r>
          </a:p>
        </p:txBody>
      </p:sp>
    </p:spTree>
    <p:extLst>
      <p:ext uri="{BB962C8B-B14F-4D97-AF65-F5344CB8AC3E}">
        <p14:creationId xmlns:p14="http://schemas.microsoft.com/office/powerpoint/2010/main" val="13866078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9337D8-F665-45CF-B1A0-A97120A0A44A}"/>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Responsible use and limitations</a:t>
            </a:r>
          </a:p>
        </p:txBody>
      </p:sp>
      <p:sp>
        <p:nvSpPr>
          <p:cNvPr id="2" name="">
            <a:extLst xmlns:a="http://schemas.openxmlformats.org/drawingml/2006/main">
              <a:ext uri="{FF2B5EF4-FFF2-40B4-BE49-F238E27FC236}">
                <a16:creationId xmlns:a16="http://schemas.microsoft.com/office/drawing/2014/main" id="{90CE21BB-6850-471E-BFE7-96418BEBD02D}"/>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5   0:55</a:t>
            </a:r>
          </a:p>
        </p:txBody>
      </p:sp>
      <p:sp>
        <p:nvSpPr>
          <p:cNvPr id="3" name="">
            <a:extLst xmlns:a="http://schemas.openxmlformats.org/drawingml/2006/main">
              <a:ext uri="{FF2B5EF4-FFF2-40B4-BE49-F238E27FC236}">
                <a16:creationId xmlns:a16="http://schemas.microsoft.com/office/drawing/2014/main" id="{83F56D83-18AE-4F61-A36E-DEFB4575944C}"/>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6093F32E-88C2-4417-B7A0-ED5298D01A94}"/>
              </a:ext>
            </a:extLst>
          </p:cNvPr>
          <p:cNvSpPr>
            <a:spLocks xmlns:a="http://schemas.openxmlformats.org/drawingml/2006/main" noGrp="1"/>
          </p:cNvSpPr>
          <p:nvPr/>
        </p:nvSpPr>
        <p:spPr>
          <a:xfrm xmlns:a="http://schemas.openxmlformats.org/drawingml/2006/main">
            <a:off x="666750" y="180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Use observed access figures when they are available</a:t>
            </a:r>
          </a:p>
        </p:txBody>
      </p:sp>
      <p:sp>
        <p:nvSpPr>
          <p:cNvPr id="5" name="">
            <a:extLst xmlns:a="http://schemas.openxmlformats.org/drawingml/2006/main">
              <a:ext uri="{FF2B5EF4-FFF2-40B4-BE49-F238E27FC236}">
                <a16:creationId xmlns:a16="http://schemas.microsoft.com/office/drawing/2014/main" id="{55397651-E891-4890-8500-5332ED9AEA03}"/>
              </a:ext>
            </a:extLst>
          </p:cNvPr>
          <p:cNvSpPr>
            <a:spLocks xmlns:a="http://schemas.openxmlformats.org/drawingml/2006/main" noGrp="1"/>
          </p:cNvSpPr>
          <p:nvPr/>
        </p:nvSpPr>
        <p:spPr>
          <a:xfrm xmlns:a="http://schemas.openxmlformats.org/drawingml/2006/main">
            <a:off x="666750" y="2762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Historical 2022 data cannot describe current outages</a:t>
            </a:r>
          </a:p>
        </p:txBody>
      </p:sp>
      <p:sp>
        <p:nvSpPr>
          <p:cNvPr id="6" name="">
            <a:extLst xmlns:a="http://schemas.openxmlformats.org/drawingml/2006/main">
              <a:ext uri="{FF2B5EF4-FFF2-40B4-BE49-F238E27FC236}">
                <a16:creationId xmlns:a16="http://schemas.microsoft.com/office/drawing/2014/main" id="{1AC082B5-5E0B-43BA-AAFE-154B9EE9EDD2}"/>
              </a:ext>
            </a:extLst>
          </p:cNvPr>
          <p:cNvSpPr>
            <a:spLocks xmlns:a="http://schemas.openxmlformats.org/drawingml/2006/main" noGrp="1"/>
          </p:cNvSpPr>
          <p:nvPr/>
        </p:nvSpPr>
        <p:spPr>
          <a:xfrm xmlns:a="http://schemas.openxmlformats.org/drawingml/2006/main">
            <a:off x="666750" y="3714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Small sample, geographic dependence and proxy effects</a:t>
            </a:r>
          </a:p>
        </p:txBody>
      </p:sp>
      <p:sp>
        <p:nvSpPr>
          <p:cNvPr id="7" name="">
            <a:extLst xmlns:a="http://schemas.openxmlformats.org/drawingml/2006/main">
              <a:ext uri="{FF2B5EF4-FFF2-40B4-BE49-F238E27FC236}">
                <a16:creationId xmlns:a16="http://schemas.microsoft.com/office/drawing/2014/main" id="{67415CB5-2ED9-41BA-8810-544A72D9B87E}"/>
              </a:ext>
            </a:extLst>
          </p:cNvPr>
          <p:cNvSpPr>
            <a:spLocks xmlns:a="http://schemas.openxmlformats.org/drawingml/2006/main" noGrp="1"/>
          </p:cNvSpPr>
          <p:nvPr/>
        </p:nvSpPr>
        <p:spPr>
          <a:xfrm xmlns:a="http://schemas.openxmlformats.org/drawingml/2006/main">
            <a:off x="666750" y="4667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Next steps: current reliability data and spatial validation</a:t>
            </a:r>
          </a:p>
        </p:txBody>
      </p:sp>
    </p:spTree>
    <p:extLst>
      <p:ext uri="{BB962C8B-B14F-4D97-AF65-F5344CB8AC3E}">
        <p14:creationId xmlns:p14="http://schemas.microsoft.com/office/powerpoint/2010/main" val="6981506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D724E-D4F0-4A05-A021-F693CCDE37A0}"/>
              </a:ext>
            </a:extLst>
          </p:cNvPr>
          <p:cNvSpPr>
            <a:spLocks xmlns:a="http://schemas.openxmlformats.org/drawingml/2006/main" noGrp="1"/>
          </p:cNvSpPr>
          <p:nvPr/>
        </p:nvSpPr>
        <p:spPr>
          <a:xfrm xmlns:a="http://schemas.openxmlformats.org/drawingml/2006/main">
            <a:off x="609600" y="4572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3A4A"/>
                </a:solidFill>
                <a:latin typeface="DejaVu Sans"/>
                <a:ea typeface="DejaVu Sans"/>
                <a:cs typeface="DejaVu Sans"/>
              </a:defRPr>
            </a:defPPr>
          </a:lstStyle>
          <a:p xmlns:a="http://schemas.openxmlformats.org/drawingml/2006/main">
            <a:pPr>
              <a:defRPr sz="2850" b="1">
                <a:solidFill>
                  <a:srgbClr val="143A4A"/>
                </a:solidFill>
                <a:latin typeface="DejaVu Sans"/>
                <a:ea typeface="DejaVu Sans"/>
                <a:cs typeface="DejaVu Sans"/>
              </a:defRPr>
            </a:pPr>
            <a:r>
              <a:rPr sz="2850" b="1">
                <a:solidFill>
                  <a:srgbClr val="143A4A"/>
                </a:solidFill>
                <a:latin typeface="DejaVu Sans"/>
                <a:ea typeface="DejaVu Sans"/>
                <a:cs typeface="DejaVu Sans"/>
              </a:rPr>
              <a:t>Conclusion and reproducibility</a:t>
            </a:r>
          </a:p>
        </p:txBody>
      </p:sp>
      <p:sp>
        <p:nvSpPr>
          <p:cNvPr id="2" name="">
            <a:extLst xmlns:a="http://schemas.openxmlformats.org/drawingml/2006/main">
              <a:ext uri="{FF2B5EF4-FFF2-40B4-BE49-F238E27FC236}">
                <a16:creationId xmlns:a16="http://schemas.microsoft.com/office/drawing/2014/main" id="{324AC301-35B6-4B2B-B994-B0F329C3C68B}"/>
              </a:ext>
            </a:extLst>
          </p:cNvPr>
          <p:cNvSpPr>
            <a:spLocks xmlns:a="http://schemas.openxmlformats.org/drawingml/2006/main" noGrp="1"/>
          </p:cNvSpPr>
          <p:nvPr/>
        </p:nvSpPr>
        <p:spPr>
          <a:xfrm xmlns:a="http://schemas.openxmlformats.org/drawingml/2006/main">
            <a:off x="609600" y="63531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4748B"/>
                </a:solidFill>
                <a:latin typeface="DejaVu Sans"/>
                <a:ea typeface="DejaVu Sans"/>
                <a:cs typeface="DejaVu Sans"/>
              </a:defRPr>
            </a:defPPr>
          </a:lstStyle>
          <a:p xmlns:a="http://schemas.openxmlformats.org/drawingml/2006/main">
            <a:pPr>
              <a:defRPr sz="1200" b="0">
                <a:solidFill>
                  <a:srgbClr val="64748B"/>
                </a:solidFill>
                <a:latin typeface="DejaVu Sans"/>
                <a:ea typeface="DejaVu Sans"/>
                <a:cs typeface="DejaVu Sans"/>
              </a:defRPr>
            </a:pPr>
            <a:r>
              <a:rPr sz="1200" b="0">
                <a:solidFill>
                  <a:srgbClr val="64748B"/>
                </a:solidFill>
                <a:latin typeface="DejaVu Sans"/>
                <a:ea typeface="DejaVu Sans"/>
                <a:cs typeface="DejaVu Sans"/>
              </a:rPr>
              <a:t>IDA117V   Member 5   0:45</a:t>
            </a:r>
          </a:p>
        </p:txBody>
      </p:sp>
      <p:sp>
        <p:nvSpPr>
          <p:cNvPr id="3" name="">
            <a:extLst xmlns:a="http://schemas.openxmlformats.org/drawingml/2006/main">
              <a:ext uri="{FF2B5EF4-FFF2-40B4-BE49-F238E27FC236}">
                <a16:creationId xmlns:a16="http://schemas.microsoft.com/office/drawing/2014/main" id="{49A4433F-6273-468F-91C3-CD980AF67825}"/>
              </a:ext>
            </a:extLst>
          </p:cNvPr>
          <p:cNvSpPr>
            <a:spLocks xmlns:a="http://schemas.openxmlformats.org/drawingml/2006/main" noGrp="1"/>
          </p:cNvSpPr>
          <p:nvPr/>
        </p:nvSpPr>
        <p:spPr>
          <a:xfrm xmlns:a="http://schemas.openxmlformats.org/drawingml/2006/main">
            <a:off x="11049000" y="63531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143A4A"/>
                </a:solidFill>
                <a:latin typeface="DejaVu Sans"/>
                <a:ea typeface="DejaVu Sans"/>
                <a:cs typeface="DejaVu Sans"/>
              </a:defRPr>
            </a:defPPr>
          </a:lstStyle>
          <a:p xmlns:a="http://schemas.openxmlformats.org/drawingml/2006/main">
            <a:pPr>
              <a:defRPr sz="1200" b="0">
                <a:solidFill>
                  <a:srgbClr val="143A4A"/>
                </a:solidFill>
                <a:latin typeface="DejaVu Sans"/>
                <a:ea typeface="DejaVu Sans"/>
                <a:cs typeface="DejaVu Sans"/>
              </a:defRPr>
            </a:pPr>
            <a:r>
              <a:rPr sz="1200" b="0">
                <a:solidFill>
                  <a:srgbClr val="143A4A"/>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6511A539-81BD-4D1C-9D59-33A302D39921}"/>
              </a:ext>
            </a:extLst>
          </p:cNvPr>
          <p:cNvSpPr>
            <a:spLocks xmlns:a="http://schemas.openxmlformats.org/drawingml/2006/main" noGrp="1"/>
          </p:cNvSpPr>
          <p:nvPr/>
        </p:nvSpPr>
        <p:spPr>
          <a:xfrm xmlns:a="http://schemas.openxmlformats.org/drawingml/2006/main">
            <a:off x="666750" y="180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Final test accuracy: 83.7%   Macro-F1: 0.811</a:t>
            </a:r>
          </a:p>
        </p:txBody>
      </p:sp>
      <p:sp>
        <p:nvSpPr>
          <p:cNvPr id="5" name="">
            <a:extLst xmlns:a="http://schemas.openxmlformats.org/drawingml/2006/main">
              <a:ext uri="{FF2B5EF4-FFF2-40B4-BE49-F238E27FC236}">
                <a16:creationId xmlns:a16="http://schemas.microsoft.com/office/drawing/2014/main" id="{889F174C-C42F-481D-86EE-0673A70D716C}"/>
              </a:ext>
            </a:extLst>
          </p:cNvPr>
          <p:cNvSpPr>
            <a:spLocks xmlns:a="http://schemas.openxmlformats.org/drawingml/2006/main" noGrp="1"/>
          </p:cNvSpPr>
          <p:nvPr/>
        </p:nvSpPr>
        <p:spPr>
          <a:xfrm xmlns:a="http://schemas.openxmlformats.org/drawingml/2006/main">
            <a:off x="666750" y="2762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Exact McNemar p = 0.25 limits the improvement claim</a:t>
            </a:r>
          </a:p>
        </p:txBody>
      </p:sp>
      <p:sp>
        <p:nvSpPr>
          <p:cNvPr id="6" name="">
            <a:extLst xmlns:a="http://schemas.openxmlformats.org/drawingml/2006/main">
              <a:ext uri="{FF2B5EF4-FFF2-40B4-BE49-F238E27FC236}">
                <a16:creationId xmlns:a16="http://schemas.microsoft.com/office/drawing/2014/main" id="{46046C11-DEA9-4D59-8015-807F2AE0D0FD}"/>
              </a:ext>
            </a:extLst>
          </p:cNvPr>
          <p:cNvSpPr>
            <a:spLocks xmlns:a="http://schemas.openxmlformats.org/drawingml/2006/main" noGrp="1"/>
          </p:cNvSpPr>
          <p:nvPr/>
        </p:nvSpPr>
        <p:spPr>
          <a:xfrm xmlns:a="http://schemas.openxmlformats.org/drawingml/2006/main">
            <a:off x="666750" y="3714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Report, executed notebook, data, code and app included</a:t>
            </a:r>
          </a:p>
        </p:txBody>
      </p:sp>
      <p:sp>
        <p:nvSpPr>
          <p:cNvPr id="7" name="">
            <a:extLst xmlns:a="http://schemas.openxmlformats.org/drawingml/2006/main">
              <a:ext uri="{FF2B5EF4-FFF2-40B4-BE49-F238E27FC236}">
                <a16:creationId xmlns:a16="http://schemas.microsoft.com/office/drawing/2014/main" id="{27218D51-73D3-4E69-AA29-AFA7DC46C945}"/>
              </a:ext>
            </a:extLst>
          </p:cNvPr>
          <p:cNvSpPr>
            <a:spLocks xmlns:a="http://schemas.openxmlformats.org/drawingml/2006/main" noGrp="1"/>
          </p:cNvSpPr>
          <p:nvPr/>
        </p:nvSpPr>
        <p:spPr>
          <a:xfrm xmlns:a="http://schemas.openxmlformats.org/drawingml/2006/main">
            <a:off x="666750" y="4667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A4A"/>
                </a:solidFill>
                <a:latin typeface="DejaVu Sans"/>
                <a:ea typeface="DejaVu Sans"/>
                <a:cs typeface="DejaVu Sans"/>
              </a:defRPr>
            </a:defPPr>
          </a:lstStyle>
          <a:p xmlns:a="http://schemas.openxmlformats.org/drawingml/2006/main">
            <a:pPr>
              <a:defRPr sz="2025" b="0">
                <a:solidFill>
                  <a:srgbClr val="143A4A"/>
                </a:solidFill>
                <a:latin typeface="DejaVu Sans"/>
                <a:ea typeface="DejaVu Sans"/>
                <a:cs typeface="DejaVu Sans"/>
              </a:defRPr>
            </a:pPr>
            <a:r>
              <a:rPr sz="2025" b="0">
                <a:solidFill>
                  <a:srgbClr val="143A4A"/>
                </a:solidFill>
                <a:latin typeface="DejaVu Sans"/>
                <a:ea typeface="DejaVu Sans"/>
                <a:cs typeface="DejaVu Sans"/>
              </a:rPr>
              <a:t>Review results, rehearse and sign actual contributions</a:t>
            </a:r>
          </a:p>
        </p:txBody>
      </p:sp>
    </p:spTree>
    <p:extLst>
      <p:ext uri="{BB962C8B-B14F-4D97-AF65-F5344CB8AC3E}">
        <p14:creationId xmlns:p14="http://schemas.microsoft.com/office/powerpoint/2010/main" val="2073807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ejaVu Sans"/>
        <a:ea typeface=""/>
        <a:cs typeface=""/>
      </a:majorFont>
      <a:minorFont>
        <a:latin typeface="DejaVu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2026-10-11T14:32:58.8210000Z</dcterms:created>
  <dcterms:modified xsi:type="dcterms:W3CDTF">2026-10-11T14:32:58.8210000Z</dcterms:modified>
</coreProperties>
</file>